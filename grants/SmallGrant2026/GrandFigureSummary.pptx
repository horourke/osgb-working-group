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257" autoAdjust="0"/>
  </p:normalViewPr>
  <p:slideViewPr>
    <p:cSldViewPr snapToGrid="0">
      <p:cViewPr varScale="1">
        <p:scale>
          <a:sx n="125" d="100"/>
          <a:sy n="125" d="100"/>
        </p:scale>
        <p:origin x="12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B29C5-F5D7-F306-F8E0-76B20C741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A397C-B0FC-BC86-8954-9910DE376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5671D-DCC8-B0BB-C2C6-6B491D87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453BEA-6F0E-E13A-1B50-8974B0EF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384DC-05F1-30E0-AA19-B26E750D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6627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3647F-F71A-B219-80CB-95163DCD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23346-5654-F580-3863-E0AA97399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D1D584-2181-42D7-9883-61A15C17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EBB44-9F29-DE1F-918D-08DC4DC5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DE14C-A928-CE8E-BB62-7CCA7C25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1754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6EEA7-F060-067B-57A2-67014048E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C6FE9D-FB6A-3BA9-3A63-232C5D69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18238B-9B64-A471-BEA0-8CF59205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D3CF3-F2DC-4491-859C-073795A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BE0FE-B722-DD9B-DDCC-B0E9838D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6479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37DB0-0C5B-424C-A28E-F33ADA0AF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F4AB9-BFCC-7322-4644-4A6F7B735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D596DC-BA41-40A2-72D3-5DA9BA0BC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03B9B4-E3DE-1CAE-B03D-E816B6BC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A915FD-377E-1CFD-D87D-EC512B61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1DF828-831D-42C9-BC68-A8A4AC9F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1809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89FA7-6D83-1598-6E27-90730D39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B159F6-10C0-EF11-3DE0-55BB3CAE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44AA93-2B81-631C-DF66-10D3D0D78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D28102-F798-6DCE-3C72-114F97198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A77841-0EE8-DFD9-4C6B-BC99D7C52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C26E1D-9103-809C-4065-BD30A0B8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4A6844-EBED-1D2E-6D21-3312F06C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60B21B-4866-3197-B8D8-BD277EBC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5210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3CA8A-FA46-35EF-9DEC-D2B41CAB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01D4DB-FCDA-6C9D-D4F5-259C92F8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27BA1C-357C-E7F7-2FCA-E2A849BD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7578D5-4579-327A-AC91-A1B2B409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780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7DD9FD-3268-86DD-E1C6-45A0999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B2C063-B376-93D7-44F2-C296917C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BE940-3D1A-0B9B-8B64-BE3672C8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6310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4A617-A306-2E34-0CD7-FC6A6F91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556DE3-D445-6FB0-96DF-23D8923BD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E89A1D-BDFA-1285-F03B-BC7B749C0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54F8E6-5AEC-94FB-7A81-932704CC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510426-5373-BFE8-9BF1-3E2A16E1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165839-8787-C2F2-C33B-63650E0E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054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81598-5562-8DF7-7960-E7123FA5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5311F7-B3A0-7CEB-E54C-75FB03BEC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7C31AA-0F7F-4E28-A07A-52FC04028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BB7398-4B61-7528-ED87-A2A910AF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5F03D4-0AEA-5289-67CB-943ADFED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E46D70-2225-3D07-60C3-D57F49BD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4730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A015F-EC21-0355-DE18-FCEDD81D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9CC3FD-3A0C-0339-3140-AE142D889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9E25F-AEBC-A41F-32E1-01B727FD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EAC90-8375-604A-46BA-A9509CBB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9CB8E7-EF9A-A3A2-F403-60487611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211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8B1538-5FB5-A8B0-85FA-1DA8CCEE1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21D85E-847B-EB79-E21B-7A1DD02E9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36ABF-FE4B-4464-4301-29C4920E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5EDBB0-EC13-01CF-10D5-EB31552F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C8E183-88E4-5778-8A38-118CFAE0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527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3377-29B5-B752-8960-00EE5AEB2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F457FB-B56C-8F66-C73E-D8D72988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B5A45B-6B7A-7A89-0358-C9C8FCF31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74874-1FFC-4485-8D82-A2C7AC8AC36A}" type="datetimeFigureOut">
              <a:rPr lang="es-419" smtClean="0"/>
              <a:t>12/3/2026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F649C-1268-EE25-8D24-5E413A32E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C23E1-1EC3-DE3F-80F9-C62A4D32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0692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15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C05D39EC-52A5-7B0D-B0D8-0D6F7056A750}"/>
              </a:ext>
            </a:extLst>
          </p:cNvPr>
          <p:cNvSpPr/>
          <p:nvPr/>
        </p:nvSpPr>
        <p:spPr>
          <a:xfrm>
            <a:off x="5185240" y="4475673"/>
            <a:ext cx="6868538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pic>
        <p:nvPicPr>
          <p:cNvPr id="110" name="Imagen 109">
            <a:extLst>
              <a:ext uri="{FF2B5EF4-FFF2-40B4-BE49-F238E27FC236}">
                <a16:creationId xmlns:a16="http://schemas.microsoft.com/office/drawing/2014/main" id="{560A5163-61D7-402B-B965-C8C4A389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746" y="4612064"/>
            <a:ext cx="1805454" cy="1739909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0E571DEB-2701-F32B-E043-61F147FCF4DD}"/>
              </a:ext>
            </a:extLst>
          </p:cNvPr>
          <p:cNvSpPr/>
          <p:nvPr/>
        </p:nvSpPr>
        <p:spPr>
          <a:xfrm>
            <a:off x="498118" y="238792"/>
            <a:ext cx="3960583" cy="4083651"/>
          </a:xfrm>
          <a:prstGeom prst="roundRect">
            <a:avLst>
              <a:gd name="adj" fmla="val 70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es-MX" b="1"/>
              <a:t>Sex</a:t>
            </a:r>
            <a:endParaRPr lang="es-419"/>
          </a:p>
          <a:p>
            <a:pPr fontAlgn="t"/>
            <a:r>
              <a:rPr lang="es-MX"/>
              <a:t>M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68CE2E8A-8836-04D4-DA26-8EF54C997B2A}"/>
              </a:ext>
            </a:extLst>
          </p:cNvPr>
          <p:cNvSpPr/>
          <p:nvPr/>
        </p:nvSpPr>
        <p:spPr>
          <a:xfrm>
            <a:off x="4655245" y="1773839"/>
            <a:ext cx="7447854" cy="2548604"/>
          </a:xfrm>
          <a:prstGeom prst="roundRect">
            <a:avLst>
              <a:gd name="adj" fmla="val 106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49074C07-45F5-F4D4-62C6-738410CDB50B}"/>
                  </a:ext>
                </a:extLst>
              </p:cNvPr>
              <p:cNvSpPr/>
              <p:nvPr/>
            </p:nvSpPr>
            <p:spPr>
              <a:xfrm>
                <a:off x="4613596" y="162641"/>
                <a:ext cx="7489503" cy="144780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</a:rPr>
                  <a:t>Model</a:t>
                </a:r>
                <a:endParaRPr lang="es-MX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</m:acc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+∑</m:t>
                                      </m:r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49074C07-45F5-F4D4-62C6-738410CDB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596" y="162641"/>
                <a:ext cx="7489503" cy="1447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n 11">
            <a:extLst>
              <a:ext uri="{FF2B5EF4-FFF2-40B4-BE49-F238E27FC236}">
                <a16:creationId xmlns:a16="http://schemas.microsoft.com/office/drawing/2014/main" id="{7BF601F6-32D8-825C-E8A0-44ED7E288C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24" b="6808"/>
          <a:stretch>
            <a:fillRect/>
          </a:stretch>
        </p:blipFill>
        <p:spPr>
          <a:xfrm>
            <a:off x="1169716" y="352351"/>
            <a:ext cx="3135584" cy="1916503"/>
          </a:xfrm>
          <a:prstGeom prst="rect">
            <a:avLst/>
          </a:prstGeom>
        </p:spPr>
      </p:pic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92A9A12-B6B1-46F1-A348-BE8B302D7E60}"/>
              </a:ext>
            </a:extLst>
          </p:cNvPr>
          <p:cNvSpPr/>
          <p:nvPr/>
        </p:nvSpPr>
        <p:spPr>
          <a:xfrm>
            <a:off x="7332341" y="1963172"/>
            <a:ext cx="45719" cy="21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58C340B-12B2-A44A-3C86-31D9B4C6A4C6}"/>
              </a:ext>
            </a:extLst>
          </p:cNvPr>
          <p:cNvSpPr txBox="1"/>
          <p:nvPr/>
        </p:nvSpPr>
        <p:spPr>
          <a:xfrm>
            <a:off x="4844002" y="2035257"/>
            <a:ext cx="25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Common Network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C03B116-CBC4-96BE-40F8-9724DC3741C9}"/>
              </a:ext>
            </a:extLst>
          </p:cNvPr>
          <p:cNvSpPr txBox="1"/>
          <p:nvPr/>
        </p:nvSpPr>
        <p:spPr>
          <a:xfrm>
            <a:off x="7467509" y="1848842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Socio-</a:t>
            </a:r>
            <a:r>
              <a:rPr lang="es-MX" dirty="0" err="1"/>
              <a:t>Economic</a:t>
            </a:r>
            <a:endParaRPr lang="es-MX" dirty="0"/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207A3CA-9A79-AE48-76D0-132F007491FE}"/>
              </a:ext>
            </a:extLst>
          </p:cNvPr>
          <p:cNvSpPr txBox="1"/>
          <p:nvPr/>
        </p:nvSpPr>
        <p:spPr>
          <a:xfrm>
            <a:off x="9746317" y="1842969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Gender</a:t>
            </a:r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8329C88-C5DE-EFC3-98FC-5F38FF8434BA}"/>
              </a:ext>
            </a:extLst>
          </p:cNvPr>
          <p:cNvSpPr txBox="1"/>
          <p:nvPr/>
        </p:nvSpPr>
        <p:spPr>
          <a:xfrm>
            <a:off x="721430" y="467539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2A0457C-4E31-F1A4-3C8B-035F1BAF5769}"/>
              </a:ext>
            </a:extLst>
          </p:cNvPr>
          <p:cNvSpPr txBox="1"/>
          <p:nvPr/>
        </p:nvSpPr>
        <p:spPr>
          <a:xfrm>
            <a:off x="710146" y="1063273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035A2D1-AD1F-1280-7DB6-AF94C0B2BA59}"/>
              </a:ext>
            </a:extLst>
          </p:cNvPr>
          <p:cNvSpPr txBox="1"/>
          <p:nvPr/>
        </p:nvSpPr>
        <p:spPr>
          <a:xfrm>
            <a:off x="710146" y="1669934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4B508255-268A-C1AD-F219-25860A57B60D}"/>
                  </a:ext>
                </a:extLst>
              </p:cNvPr>
              <p:cNvSpPr txBox="1"/>
              <p:nvPr/>
            </p:nvSpPr>
            <p:spPr>
              <a:xfrm>
                <a:off x="721430" y="206661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4B508255-268A-C1AD-F219-25860A57B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30" y="2066612"/>
                <a:ext cx="48877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72DA8F3D-E38D-F975-3624-533017A8A244}"/>
              </a:ext>
            </a:extLst>
          </p:cNvPr>
          <p:cNvSpPr/>
          <p:nvPr/>
        </p:nvSpPr>
        <p:spPr>
          <a:xfrm>
            <a:off x="443948" y="4467729"/>
            <a:ext cx="4674152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Prediction Error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647A248A-F7FB-DDED-D13B-D3F228195632}"/>
              </a:ext>
            </a:extLst>
          </p:cNvPr>
          <p:cNvSpPr/>
          <p:nvPr/>
        </p:nvSpPr>
        <p:spPr>
          <a:xfrm>
            <a:off x="356357" y="148306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22946C2B-1FA2-0EF0-351A-F32536F00FE8}"/>
              </a:ext>
            </a:extLst>
          </p:cNvPr>
          <p:cNvSpPr/>
          <p:nvPr/>
        </p:nvSpPr>
        <p:spPr>
          <a:xfrm>
            <a:off x="4512852" y="103264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B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6915AD32-F1BF-CFF3-F75C-F84054B2692F}"/>
              </a:ext>
            </a:extLst>
          </p:cNvPr>
          <p:cNvSpPr/>
          <p:nvPr/>
        </p:nvSpPr>
        <p:spPr>
          <a:xfrm>
            <a:off x="4565796" y="1685389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C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7E9026A1-DAAB-B1D7-7B73-8CA904872BD5}"/>
              </a:ext>
            </a:extLst>
          </p:cNvPr>
          <p:cNvSpPr/>
          <p:nvPr/>
        </p:nvSpPr>
        <p:spPr>
          <a:xfrm>
            <a:off x="376808" y="4364179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D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D7DED6EB-9955-3858-3025-EFD1A4A5D4DE}"/>
              </a:ext>
            </a:extLst>
          </p:cNvPr>
          <p:cNvSpPr/>
          <p:nvPr/>
        </p:nvSpPr>
        <p:spPr>
          <a:xfrm>
            <a:off x="5176786" y="439077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graphicFrame>
        <p:nvGraphicFramePr>
          <p:cNvPr id="75" name="Tabla 74">
            <a:extLst>
              <a:ext uri="{FF2B5EF4-FFF2-40B4-BE49-F238E27FC236}">
                <a16:creationId xmlns:a16="http://schemas.microsoft.com/office/drawing/2014/main" id="{5BCDDA67-C0C2-CAC1-FBEE-6D9E3DCEF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607406"/>
              </p:ext>
            </p:extLst>
          </p:nvPr>
        </p:nvGraphicFramePr>
        <p:xfrm>
          <a:off x="1360377" y="2691811"/>
          <a:ext cx="236163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472949985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771050640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374501602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S. No.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 err="1"/>
                        <a:t>Soc-Ec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83361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S1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8129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S2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2283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 err="1"/>
                        <a:t>Middle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16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DEB73F7E-40FD-CB63-8530-27DF532F37D1}"/>
                  </a:ext>
                </a:extLst>
              </p:cNvPr>
              <p:cNvSpPr txBox="1"/>
              <p:nvPr/>
            </p:nvSpPr>
            <p:spPr>
              <a:xfrm>
                <a:off x="1452373" y="3911011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DEB73F7E-40FD-CB63-8530-27DF532F3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73" y="3911011"/>
                <a:ext cx="48877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C1F9069-CCCC-4F57-6991-D0AC52E37D21}"/>
                  </a:ext>
                </a:extLst>
              </p:cNvPr>
              <p:cNvSpPr txBox="1"/>
              <p:nvPr/>
            </p:nvSpPr>
            <p:spPr>
              <a:xfrm>
                <a:off x="2230255" y="3922333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C1F9069-CCCC-4F57-6991-D0AC52E3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255" y="3922333"/>
                <a:ext cx="48877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7D92F982-B03D-3F18-CF46-FCC713DE3AA4}"/>
                  </a:ext>
                </a:extLst>
              </p:cNvPr>
              <p:cNvSpPr txBox="1"/>
              <p:nvPr/>
            </p:nvSpPr>
            <p:spPr>
              <a:xfrm>
                <a:off x="2982282" y="3911011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7D92F982-B03D-3F18-CF46-FCC713DE3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282" y="3911011"/>
                <a:ext cx="48877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5CFD8DC8-5217-194A-5C0A-4563FE50E09C}"/>
                  </a:ext>
                </a:extLst>
              </p:cNvPr>
              <p:cNvSpPr txBox="1"/>
              <p:nvPr/>
            </p:nvSpPr>
            <p:spPr>
              <a:xfrm>
                <a:off x="1324115" y="2210931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5CFD8DC8-5217-194A-5C0A-4563FE50E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115" y="2210931"/>
                <a:ext cx="48877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1F5FE93F-CF66-91E9-4D1C-F6A4B9580CC2}"/>
                  </a:ext>
                </a:extLst>
              </p:cNvPr>
              <p:cNvSpPr txBox="1"/>
              <p:nvPr/>
            </p:nvSpPr>
            <p:spPr>
              <a:xfrm>
                <a:off x="1926800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1F5FE93F-CF66-91E9-4D1C-F6A4B9580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800" y="2226226"/>
                <a:ext cx="48877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75BD868-E2EA-63B3-3477-95FF3117B23A}"/>
                  </a:ext>
                </a:extLst>
              </p:cNvPr>
              <p:cNvSpPr txBox="1"/>
              <p:nvPr/>
            </p:nvSpPr>
            <p:spPr>
              <a:xfrm>
                <a:off x="2576383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75BD868-E2EA-63B3-3477-95FF3117B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383" y="2226226"/>
                <a:ext cx="48877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4EEC2B-65A2-4124-29C9-5BD368F40877}"/>
                  </a:ext>
                </a:extLst>
              </p:cNvPr>
              <p:cNvSpPr txBox="1"/>
              <p:nvPr/>
            </p:nvSpPr>
            <p:spPr>
              <a:xfrm>
                <a:off x="3166689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4EEC2B-65A2-4124-29C9-5BD368F40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689" y="2226226"/>
                <a:ext cx="48877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79CDD4FD-C67C-949A-8DA1-69B169B2DE43}"/>
                  </a:ext>
                </a:extLst>
              </p:cNvPr>
              <p:cNvSpPr txBox="1"/>
              <p:nvPr/>
            </p:nvSpPr>
            <p:spPr>
              <a:xfrm>
                <a:off x="3793376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79CDD4FD-C67C-949A-8DA1-69B169B2D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376" y="2226226"/>
                <a:ext cx="48877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uadroTexto 86">
            <a:extLst>
              <a:ext uri="{FF2B5EF4-FFF2-40B4-BE49-F238E27FC236}">
                <a16:creationId xmlns:a16="http://schemas.microsoft.com/office/drawing/2014/main" id="{C8777293-4DAD-08A8-1D28-B992CCBA1DD9}"/>
              </a:ext>
            </a:extLst>
          </p:cNvPr>
          <p:cNvSpPr txBox="1"/>
          <p:nvPr/>
        </p:nvSpPr>
        <p:spPr>
          <a:xfrm>
            <a:off x="2163904" y="6348306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Time </a:t>
            </a:r>
            <a:r>
              <a:rPr lang="es-MX" dirty="0" err="1"/>
              <a:t>points</a:t>
            </a:r>
            <a:r>
              <a:rPr lang="es-MX" dirty="0"/>
              <a:t> (T)</a:t>
            </a:r>
            <a:endParaRPr lang="es-419" dirty="0"/>
          </a:p>
        </p:txBody>
      </p:sp>
      <p:pic>
        <p:nvPicPr>
          <p:cNvPr id="91" name="Imagen 90">
            <a:extLst>
              <a:ext uri="{FF2B5EF4-FFF2-40B4-BE49-F238E27FC236}">
                <a16:creationId xmlns:a16="http://schemas.microsoft.com/office/drawing/2014/main" id="{00882427-44A5-C60E-A75E-54E8CB3E92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281" y="4789859"/>
            <a:ext cx="3608692" cy="1648112"/>
          </a:xfrm>
          <a:prstGeom prst="rect">
            <a:avLst/>
          </a:prstGeom>
        </p:spPr>
      </p:pic>
      <p:sp>
        <p:nvSpPr>
          <p:cNvPr id="92" name="CuadroTexto 91">
            <a:extLst>
              <a:ext uri="{FF2B5EF4-FFF2-40B4-BE49-F238E27FC236}">
                <a16:creationId xmlns:a16="http://schemas.microsoft.com/office/drawing/2014/main" id="{2BF70FCA-8BF7-D9B8-6DB2-EBF359D12879}"/>
              </a:ext>
            </a:extLst>
          </p:cNvPr>
          <p:cNvSpPr txBox="1"/>
          <p:nvPr/>
        </p:nvSpPr>
        <p:spPr>
          <a:xfrm rot="16200000">
            <a:off x="-159974" y="5551981"/>
            <a:ext cx="2052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/>
              <a:t>Estimation</a:t>
            </a:r>
            <a:r>
              <a:rPr lang="es-MX" dirty="0"/>
              <a:t> Error </a:t>
            </a:r>
            <a:endParaRPr lang="es-419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E2519FF0-DF5F-11A9-31E8-0323D593A1EA}"/>
              </a:ext>
            </a:extLst>
          </p:cNvPr>
          <p:cNvSpPr txBox="1"/>
          <p:nvPr/>
        </p:nvSpPr>
        <p:spPr>
          <a:xfrm>
            <a:off x="1428602" y="4497196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10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339A3448-F014-8032-77FB-5CD34B060831}"/>
              </a:ext>
            </a:extLst>
          </p:cNvPr>
          <p:cNvSpPr txBox="1"/>
          <p:nvPr/>
        </p:nvSpPr>
        <p:spPr>
          <a:xfrm>
            <a:off x="3193220" y="4497196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20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59D4A410-E866-D017-60C7-29F4A5017DB8}"/>
              </a:ext>
            </a:extLst>
          </p:cNvPr>
          <p:cNvSpPr txBox="1"/>
          <p:nvPr/>
        </p:nvSpPr>
        <p:spPr>
          <a:xfrm>
            <a:off x="5608431" y="4511776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2FFD4C7F-1CA1-76BD-036F-F21EB69758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2147" y="2421609"/>
            <a:ext cx="1784312" cy="1766288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3ABB7D8E-BB8B-21B5-4707-D46243FB60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1820" y="2416632"/>
            <a:ext cx="1766931" cy="1684748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EE60A059-5DE0-8DE3-1D35-C562BB921EE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6399" y="2466722"/>
            <a:ext cx="1847999" cy="1721175"/>
          </a:xfrm>
          <a:prstGeom prst="rect">
            <a:avLst/>
          </a:prstGeom>
        </p:spPr>
      </p:pic>
      <p:graphicFrame>
        <p:nvGraphicFramePr>
          <p:cNvPr id="107" name="Tabla 106">
            <a:extLst>
              <a:ext uri="{FF2B5EF4-FFF2-40B4-BE49-F238E27FC236}">
                <a16:creationId xmlns:a16="http://schemas.microsoft.com/office/drawing/2014/main" id="{4F52ECCF-A5B2-61FD-4262-D686E53EF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407706"/>
              </p:ext>
            </p:extLst>
          </p:nvPr>
        </p:nvGraphicFramePr>
        <p:xfrm>
          <a:off x="2147589" y="2695153"/>
          <a:ext cx="787213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1551294310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 err="1"/>
                        <a:t>Soc-Ec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93400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8866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38920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908014"/>
                  </a:ext>
                </a:extLst>
              </a:tr>
            </a:tbl>
          </a:graphicData>
        </a:graphic>
      </p:graphicFrame>
      <p:graphicFrame>
        <p:nvGraphicFramePr>
          <p:cNvPr id="108" name="Tabla 107">
            <a:extLst>
              <a:ext uri="{FF2B5EF4-FFF2-40B4-BE49-F238E27FC236}">
                <a16:creationId xmlns:a16="http://schemas.microsoft.com/office/drawing/2014/main" id="{903F8BBA-6526-CDBB-B0C1-B768EB6B1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91960"/>
              </p:ext>
            </p:extLst>
          </p:nvPr>
        </p:nvGraphicFramePr>
        <p:xfrm>
          <a:off x="2934801" y="2695153"/>
          <a:ext cx="787213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707380661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5159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12852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972976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72536"/>
                  </a:ext>
                </a:extLst>
              </a:tr>
            </a:tbl>
          </a:graphicData>
        </a:graphic>
      </p:graphicFrame>
      <p:sp>
        <p:nvSpPr>
          <p:cNvPr id="115" name="CuadroTexto 114">
            <a:extLst>
              <a:ext uri="{FF2B5EF4-FFF2-40B4-BE49-F238E27FC236}">
                <a16:creationId xmlns:a16="http://schemas.microsoft.com/office/drawing/2014/main" id="{7AB85B0B-77CE-AD0A-FDC6-F8D2531733FB}"/>
              </a:ext>
            </a:extLst>
          </p:cNvPr>
          <p:cNvSpPr txBox="1"/>
          <p:nvPr/>
        </p:nvSpPr>
        <p:spPr>
          <a:xfrm>
            <a:off x="5234561" y="6381743"/>
            <a:ext cx="67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Covariate-</a:t>
            </a:r>
            <a:r>
              <a:rPr lang="es-MX" dirty="0" err="1"/>
              <a:t>Dependent</a:t>
            </a:r>
            <a:r>
              <a:rPr lang="es-MX" dirty="0"/>
              <a:t> Network </a:t>
            </a:r>
            <a:r>
              <a:rPr lang="es-MX" dirty="0" err="1"/>
              <a:t>Estimation</a:t>
            </a:r>
            <a:endParaRPr lang="es-419" dirty="0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C1687A49-ED4A-ED3E-6726-44FAD3B6A290}"/>
              </a:ext>
            </a:extLst>
          </p:cNvPr>
          <p:cNvSpPr txBox="1"/>
          <p:nvPr/>
        </p:nvSpPr>
        <p:spPr>
          <a:xfrm>
            <a:off x="11455731" y="5238568"/>
            <a:ext cx="48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…</a:t>
            </a:r>
            <a:endParaRPr lang="es-419" b="1" dirty="0"/>
          </a:p>
        </p:txBody>
      </p:sp>
      <p:pic>
        <p:nvPicPr>
          <p:cNvPr id="117" name="Imagen 116">
            <a:extLst>
              <a:ext uri="{FF2B5EF4-FFF2-40B4-BE49-F238E27FC236}">
                <a16:creationId xmlns:a16="http://schemas.microsoft.com/office/drawing/2014/main" id="{68CFC703-B625-4982-3A83-7A2BC2147A5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7016" y="4617034"/>
            <a:ext cx="1784312" cy="1766288"/>
          </a:xfrm>
          <a:prstGeom prst="rect">
            <a:avLst/>
          </a:prstGeom>
        </p:spPr>
      </p:pic>
      <p:sp>
        <p:nvSpPr>
          <p:cNvPr id="97" name="CuadroTexto 96">
            <a:extLst>
              <a:ext uri="{FF2B5EF4-FFF2-40B4-BE49-F238E27FC236}">
                <a16:creationId xmlns:a16="http://schemas.microsoft.com/office/drawing/2014/main" id="{68C4203C-E06E-B77C-7681-B5375398A883}"/>
              </a:ext>
            </a:extLst>
          </p:cNvPr>
          <p:cNvSpPr txBox="1"/>
          <p:nvPr/>
        </p:nvSpPr>
        <p:spPr>
          <a:xfrm>
            <a:off x="7767102" y="4535481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pic>
        <p:nvPicPr>
          <p:cNvPr id="119" name="Imagen 118">
            <a:extLst>
              <a:ext uri="{FF2B5EF4-FFF2-40B4-BE49-F238E27FC236}">
                <a16:creationId xmlns:a16="http://schemas.microsoft.com/office/drawing/2014/main" id="{6F022DDA-2E88-33F4-5A02-24B83CF4A6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3440" y="4664436"/>
            <a:ext cx="1784311" cy="1684858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CDD1CBDF-CED8-991D-25D3-64E9903354CD}"/>
              </a:ext>
            </a:extLst>
          </p:cNvPr>
          <p:cNvSpPr txBox="1"/>
          <p:nvPr/>
        </p:nvSpPr>
        <p:spPr>
          <a:xfrm>
            <a:off x="9563449" y="4536846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12851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E9FB-AB0C-5B70-0D83-DC80C6BF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FD3D67EE-02B0-4002-760E-777C56F64CD0}"/>
              </a:ext>
            </a:extLst>
          </p:cNvPr>
          <p:cNvSpPr/>
          <p:nvPr/>
        </p:nvSpPr>
        <p:spPr>
          <a:xfrm>
            <a:off x="5119337" y="4372409"/>
            <a:ext cx="6868538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pic>
        <p:nvPicPr>
          <p:cNvPr id="110" name="Imagen 109">
            <a:extLst>
              <a:ext uri="{FF2B5EF4-FFF2-40B4-BE49-F238E27FC236}">
                <a16:creationId xmlns:a16="http://schemas.microsoft.com/office/drawing/2014/main" id="{C5435B5B-EECD-AA6B-58B8-6CDC7F3BD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43" y="4508800"/>
            <a:ext cx="1805454" cy="1739909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BCDC8350-12C7-D199-712B-E728E5D4DF48}"/>
              </a:ext>
            </a:extLst>
          </p:cNvPr>
          <p:cNvSpPr/>
          <p:nvPr/>
        </p:nvSpPr>
        <p:spPr>
          <a:xfrm>
            <a:off x="432215" y="59378"/>
            <a:ext cx="3960583" cy="4159802"/>
          </a:xfrm>
          <a:prstGeom prst="roundRect">
            <a:avLst>
              <a:gd name="adj" fmla="val 70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es-MX" b="1"/>
              <a:t>Sex</a:t>
            </a:r>
            <a:endParaRPr lang="es-419"/>
          </a:p>
          <a:p>
            <a:pPr fontAlgn="t"/>
            <a:r>
              <a:rPr lang="es-MX"/>
              <a:t>M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F42F7449-3096-951D-D2D0-11E28411E8A6}"/>
              </a:ext>
            </a:extLst>
          </p:cNvPr>
          <p:cNvSpPr/>
          <p:nvPr/>
        </p:nvSpPr>
        <p:spPr>
          <a:xfrm>
            <a:off x="4589342" y="1670575"/>
            <a:ext cx="7447854" cy="2548604"/>
          </a:xfrm>
          <a:prstGeom prst="roundRect">
            <a:avLst>
              <a:gd name="adj" fmla="val 106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5B1632D9-1F9C-987F-674F-2910FABC2762}"/>
                  </a:ext>
                </a:extLst>
              </p:cNvPr>
              <p:cNvSpPr/>
              <p:nvPr/>
            </p:nvSpPr>
            <p:spPr>
              <a:xfrm>
                <a:off x="4547693" y="59377"/>
                <a:ext cx="7489503" cy="144780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</a:rPr>
                  <a:t>Model</a:t>
                </a:r>
                <a:endParaRPr lang="es-MX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</m:acc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+∑</m:t>
                                      </m:r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5B1632D9-1F9C-987F-674F-2910FABC27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93" y="59377"/>
                <a:ext cx="7489503" cy="1447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n 11">
            <a:extLst>
              <a:ext uri="{FF2B5EF4-FFF2-40B4-BE49-F238E27FC236}">
                <a16:creationId xmlns:a16="http://schemas.microsoft.com/office/drawing/2014/main" id="{DE0F4839-588B-B958-EB7C-5EF6B3CD55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24" b="6808"/>
          <a:stretch>
            <a:fillRect/>
          </a:stretch>
        </p:blipFill>
        <p:spPr>
          <a:xfrm>
            <a:off x="1103813" y="249087"/>
            <a:ext cx="3135584" cy="1916503"/>
          </a:xfrm>
          <a:prstGeom prst="rect">
            <a:avLst/>
          </a:prstGeom>
        </p:spPr>
      </p:pic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4DA498F-A4FA-8CFE-22EB-6AF99A8DE905}"/>
              </a:ext>
            </a:extLst>
          </p:cNvPr>
          <p:cNvSpPr/>
          <p:nvPr/>
        </p:nvSpPr>
        <p:spPr>
          <a:xfrm>
            <a:off x="7266438" y="1859908"/>
            <a:ext cx="45719" cy="21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52E30AF-25D6-9A86-4E3E-1026ED727903}"/>
              </a:ext>
            </a:extLst>
          </p:cNvPr>
          <p:cNvSpPr txBox="1"/>
          <p:nvPr/>
        </p:nvSpPr>
        <p:spPr>
          <a:xfrm>
            <a:off x="4778099" y="1931993"/>
            <a:ext cx="25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Common Network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F00DE7B-914D-69E2-9878-6A5C9C7CB03A}"/>
              </a:ext>
            </a:extLst>
          </p:cNvPr>
          <p:cNvSpPr txBox="1"/>
          <p:nvPr/>
        </p:nvSpPr>
        <p:spPr>
          <a:xfrm>
            <a:off x="7401606" y="1745578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Socio-</a:t>
            </a:r>
            <a:r>
              <a:rPr lang="es-MX" dirty="0" err="1"/>
              <a:t>Economic</a:t>
            </a:r>
            <a:endParaRPr lang="es-MX" dirty="0"/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BD0CCA7-9CC5-5BF0-570D-06AE6F2246DC}"/>
              </a:ext>
            </a:extLst>
          </p:cNvPr>
          <p:cNvSpPr txBox="1"/>
          <p:nvPr/>
        </p:nvSpPr>
        <p:spPr>
          <a:xfrm>
            <a:off x="9680414" y="1739705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Gender</a:t>
            </a:r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D501300-D00D-DEEB-5848-71BC27E6723B}"/>
              </a:ext>
            </a:extLst>
          </p:cNvPr>
          <p:cNvSpPr txBox="1"/>
          <p:nvPr/>
        </p:nvSpPr>
        <p:spPr>
          <a:xfrm>
            <a:off x="655527" y="364275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0C9343A-2994-3BC7-B5CD-9BB3D23042DF}"/>
              </a:ext>
            </a:extLst>
          </p:cNvPr>
          <p:cNvSpPr txBox="1"/>
          <p:nvPr/>
        </p:nvSpPr>
        <p:spPr>
          <a:xfrm>
            <a:off x="644243" y="960009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348D86C-51B4-72D0-49D5-BE1A89A71909}"/>
              </a:ext>
            </a:extLst>
          </p:cNvPr>
          <p:cNvSpPr txBox="1"/>
          <p:nvPr/>
        </p:nvSpPr>
        <p:spPr>
          <a:xfrm>
            <a:off x="644243" y="1566670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BD06E30-B31E-FC52-E7D8-3D4EEAA807B0}"/>
                  </a:ext>
                </a:extLst>
              </p:cNvPr>
              <p:cNvSpPr txBox="1"/>
              <p:nvPr/>
            </p:nvSpPr>
            <p:spPr>
              <a:xfrm>
                <a:off x="655527" y="1963348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BD06E30-B31E-FC52-E7D8-3D4EEAA80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27" y="1963348"/>
                <a:ext cx="48877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BADEEE80-1BFC-0D9C-07D8-337A0997FEA1}"/>
              </a:ext>
            </a:extLst>
          </p:cNvPr>
          <p:cNvSpPr/>
          <p:nvPr/>
        </p:nvSpPr>
        <p:spPr>
          <a:xfrm>
            <a:off x="378045" y="4364465"/>
            <a:ext cx="4674152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u="sng"/>
              <a:t>Prediction Error</a:t>
            </a:r>
            <a:endParaRPr lang="es-419" u="sng" dirty="0">
              <a:solidFill>
                <a:schemeClr val="tx1"/>
              </a:solidFill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061F0C87-B8E5-AFE6-7C45-F0BACD37361A}"/>
              </a:ext>
            </a:extLst>
          </p:cNvPr>
          <p:cNvSpPr/>
          <p:nvPr/>
        </p:nvSpPr>
        <p:spPr>
          <a:xfrm>
            <a:off x="325120" y="28672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0BFC753-E46F-DF72-F4EA-CC9131A66016}"/>
              </a:ext>
            </a:extLst>
          </p:cNvPr>
          <p:cNvSpPr/>
          <p:nvPr/>
        </p:nvSpPr>
        <p:spPr>
          <a:xfrm>
            <a:off x="4440404" y="32373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B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EEE37F51-AEDC-42E2-E2D2-32487075F527}"/>
              </a:ext>
            </a:extLst>
          </p:cNvPr>
          <p:cNvSpPr/>
          <p:nvPr/>
        </p:nvSpPr>
        <p:spPr>
          <a:xfrm>
            <a:off x="4499893" y="158212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C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F1957AC2-C2D3-146A-6302-5969AA8F81E6}"/>
              </a:ext>
            </a:extLst>
          </p:cNvPr>
          <p:cNvSpPr/>
          <p:nvPr/>
        </p:nvSpPr>
        <p:spPr>
          <a:xfrm>
            <a:off x="310905" y="426091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D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4A1E18CC-34E5-8F56-CF04-74D7C62F432A}"/>
              </a:ext>
            </a:extLst>
          </p:cNvPr>
          <p:cNvSpPr/>
          <p:nvPr/>
        </p:nvSpPr>
        <p:spPr>
          <a:xfrm>
            <a:off x="5110883" y="4287511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graphicFrame>
        <p:nvGraphicFramePr>
          <p:cNvPr id="75" name="Tabla 74">
            <a:extLst>
              <a:ext uri="{FF2B5EF4-FFF2-40B4-BE49-F238E27FC236}">
                <a16:creationId xmlns:a16="http://schemas.microsoft.com/office/drawing/2014/main" id="{DFCBD71D-671B-D4BB-8099-A540E7706E94}"/>
              </a:ext>
            </a:extLst>
          </p:cNvPr>
          <p:cNvGraphicFramePr>
            <a:graphicFrameLocks noGrp="1"/>
          </p:cNvGraphicFramePr>
          <p:nvPr/>
        </p:nvGraphicFramePr>
        <p:xfrm>
          <a:off x="1294474" y="2588547"/>
          <a:ext cx="236163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472949985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771050640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374501602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S. No.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Soc-Ec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83361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S1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8129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S2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2283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 err="1"/>
                        <a:t>Middle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16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64E2DB53-F2E8-38BC-C765-7265A494F3DD}"/>
                  </a:ext>
                </a:extLst>
              </p:cNvPr>
              <p:cNvSpPr txBox="1"/>
              <p:nvPr/>
            </p:nvSpPr>
            <p:spPr>
              <a:xfrm>
                <a:off x="1386470" y="3807747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64E2DB53-F2E8-38BC-C765-7265A494F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470" y="3807747"/>
                <a:ext cx="48877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BB05336-8510-F0F4-FB4E-D1E927425FE3}"/>
                  </a:ext>
                </a:extLst>
              </p:cNvPr>
              <p:cNvSpPr txBox="1"/>
              <p:nvPr/>
            </p:nvSpPr>
            <p:spPr>
              <a:xfrm>
                <a:off x="2164352" y="3819069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BB05336-8510-F0F4-FB4E-D1E92742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352" y="3819069"/>
                <a:ext cx="48877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DB12175C-5CE3-B577-4C25-47BCFF52C1D9}"/>
                  </a:ext>
                </a:extLst>
              </p:cNvPr>
              <p:cNvSpPr txBox="1"/>
              <p:nvPr/>
            </p:nvSpPr>
            <p:spPr>
              <a:xfrm>
                <a:off x="2916379" y="3807747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DB12175C-5CE3-B577-4C25-47BCFF52C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379" y="3807747"/>
                <a:ext cx="48877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3CF50C3E-B0BD-8749-B78C-D16E04761752}"/>
                  </a:ext>
                </a:extLst>
              </p:cNvPr>
              <p:cNvSpPr txBox="1"/>
              <p:nvPr/>
            </p:nvSpPr>
            <p:spPr>
              <a:xfrm>
                <a:off x="1258212" y="2107667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3CF50C3E-B0BD-8749-B78C-D16E04761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212" y="2107667"/>
                <a:ext cx="48877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D3419A6-8FD0-2A2B-83D8-40D1933B23B3}"/>
                  </a:ext>
                </a:extLst>
              </p:cNvPr>
              <p:cNvSpPr txBox="1"/>
              <p:nvPr/>
            </p:nvSpPr>
            <p:spPr>
              <a:xfrm>
                <a:off x="1860897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D3419A6-8FD0-2A2B-83D8-40D1933B2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97" y="2122962"/>
                <a:ext cx="48877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D63B1880-718A-90B1-C457-A465A3B3663D}"/>
                  </a:ext>
                </a:extLst>
              </p:cNvPr>
              <p:cNvSpPr txBox="1"/>
              <p:nvPr/>
            </p:nvSpPr>
            <p:spPr>
              <a:xfrm>
                <a:off x="2510480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D63B1880-718A-90B1-C457-A465A3B36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80" y="2122962"/>
                <a:ext cx="48877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9FE70B8C-DCDF-1265-33C6-408F4CC6986C}"/>
                  </a:ext>
                </a:extLst>
              </p:cNvPr>
              <p:cNvSpPr txBox="1"/>
              <p:nvPr/>
            </p:nvSpPr>
            <p:spPr>
              <a:xfrm>
                <a:off x="3100786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9FE70B8C-DCDF-1265-33C6-408F4CC69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786" y="2122962"/>
                <a:ext cx="48877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64929102-9D69-C18D-D4A4-22F3CFC3D9E9}"/>
                  </a:ext>
                </a:extLst>
              </p:cNvPr>
              <p:cNvSpPr txBox="1"/>
              <p:nvPr/>
            </p:nvSpPr>
            <p:spPr>
              <a:xfrm>
                <a:off x="3727473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64929102-9D69-C18D-D4A4-22F3CFC3D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3" y="2122962"/>
                <a:ext cx="48877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uadroTexto 86">
            <a:extLst>
              <a:ext uri="{FF2B5EF4-FFF2-40B4-BE49-F238E27FC236}">
                <a16:creationId xmlns:a16="http://schemas.microsoft.com/office/drawing/2014/main" id="{D9CBEC14-34F0-A316-2034-29F54A03E944}"/>
              </a:ext>
            </a:extLst>
          </p:cNvPr>
          <p:cNvSpPr txBox="1"/>
          <p:nvPr/>
        </p:nvSpPr>
        <p:spPr>
          <a:xfrm>
            <a:off x="2098001" y="6245042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Time </a:t>
            </a:r>
            <a:r>
              <a:rPr lang="es-MX" dirty="0" err="1"/>
              <a:t>points</a:t>
            </a:r>
            <a:r>
              <a:rPr lang="es-MX" dirty="0"/>
              <a:t> (T)</a:t>
            </a:r>
            <a:endParaRPr lang="es-419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96EC5B7-56A5-E9D6-E5EA-D52BF7CE57EA}"/>
              </a:ext>
            </a:extLst>
          </p:cNvPr>
          <p:cNvSpPr txBox="1"/>
          <p:nvPr/>
        </p:nvSpPr>
        <p:spPr>
          <a:xfrm rot="16200000">
            <a:off x="-297948" y="5442558"/>
            <a:ext cx="2052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/>
              <a:t>Estimation</a:t>
            </a:r>
            <a:r>
              <a:rPr lang="es-MX" dirty="0"/>
              <a:t> Error </a:t>
            </a:r>
            <a:endParaRPr lang="es-419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7F752FF5-6404-B1E4-7E8A-85E692BE14A6}"/>
              </a:ext>
            </a:extLst>
          </p:cNvPr>
          <p:cNvSpPr txBox="1"/>
          <p:nvPr/>
        </p:nvSpPr>
        <p:spPr>
          <a:xfrm>
            <a:off x="1312979" y="4399611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10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122E9E6E-0B84-7CCD-145C-F2D3364A3E6F}"/>
              </a:ext>
            </a:extLst>
          </p:cNvPr>
          <p:cNvSpPr txBox="1"/>
          <p:nvPr/>
        </p:nvSpPr>
        <p:spPr>
          <a:xfrm>
            <a:off x="3270026" y="4416430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20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1AFF722-741B-35CA-5411-37198E272649}"/>
              </a:ext>
            </a:extLst>
          </p:cNvPr>
          <p:cNvSpPr txBox="1"/>
          <p:nvPr/>
        </p:nvSpPr>
        <p:spPr>
          <a:xfrm>
            <a:off x="5542528" y="4408512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C07DAC19-4DA5-7318-8526-F1DB1B988C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76244" y="2318345"/>
            <a:ext cx="1784312" cy="1766288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1435D3AD-A14D-5CFA-1D20-0E35B1C188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5917" y="2313368"/>
            <a:ext cx="1766931" cy="1684748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01BE02CB-55C4-8E43-6DC2-9F8A02087C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00496" y="2363458"/>
            <a:ext cx="1847999" cy="1721175"/>
          </a:xfrm>
          <a:prstGeom prst="rect">
            <a:avLst/>
          </a:prstGeom>
        </p:spPr>
      </p:pic>
      <p:graphicFrame>
        <p:nvGraphicFramePr>
          <p:cNvPr id="107" name="Tabla 106">
            <a:extLst>
              <a:ext uri="{FF2B5EF4-FFF2-40B4-BE49-F238E27FC236}">
                <a16:creationId xmlns:a16="http://schemas.microsoft.com/office/drawing/2014/main" id="{DC5A09A8-AD54-68E3-3DB0-6845BCBE931F}"/>
              </a:ext>
            </a:extLst>
          </p:cNvPr>
          <p:cNvGraphicFramePr>
            <a:graphicFrameLocks noGrp="1"/>
          </p:cNvGraphicFramePr>
          <p:nvPr/>
        </p:nvGraphicFramePr>
        <p:xfrm>
          <a:off x="2081686" y="2591889"/>
          <a:ext cx="787213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1551294310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Soc-Ec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93400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8866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38920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908014"/>
                  </a:ext>
                </a:extLst>
              </a:tr>
            </a:tbl>
          </a:graphicData>
        </a:graphic>
      </p:graphicFrame>
      <p:graphicFrame>
        <p:nvGraphicFramePr>
          <p:cNvPr id="108" name="Tabla 107">
            <a:extLst>
              <a:ext uri="{FF2B5EF4-FFF2-40B4-BE49-F238E27FC236}">
                <a16:creationId xmlns:a16="http://schemas.microsoft.com/office/drawing/2014/main" id="{CC9A9CC8-B2C5-2CF4-F0BB-5982F29D1A62}"/>
              </a:ext>
            </a:extLst>
          </p:cNvPr>
          <p:cNvGraphicFramePr>
            <a:graphicFrameLocks noGrp="1"/>
          </p:cNvGraphicFramePr>
          <p:nvPr/>
        </p:nvGraphicFramePr>
        <p:xfrm>
          <a:off x="2868898" y="2591889"/>
          <a:ext cx="787213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707380661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5159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12852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972976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72536"/>
                  </a:ext>
                </a:extLst>
              </a:tr>
            </a:tbl>
          </a:graphicData>
        </a:graphic>
      </p:graphicFrame>
      <p:sp>
        <p:nvSpPr>
          <p:cNvPr id="115" name="CuadroTexto 114">
            <a:extLst>
              <a:ext uri="{FF2B5EF4-FFF2-40B4-BE49-F238E27FC236}">
                <a16:creationId xmlns:a16="http://schemas.microsoft.com/office/drawing/2014/main" id="{01B86019-E9A2-560F-5883-01006F8A08DA}"/>
              </a:ext>
            </a:extLst>
          </p:cNvPr>
          <p:cNvSpPr txBox="1"/>
          <p:nvPr/>
        </p:nvSpPr>
        <p:spPr>
          <a:xfrm>
            <a:off x="5168658" y="6278479"/>
            <a:ext cx="67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Covariate-</a:t>
            </a:r>
            <a:r>
              <a:rPr lang="es-MX" dirty="0" err="1"/>
              <a:t>Dependent</a:t>
            </a:r>
            <a:r>
              <a:rPr lang="es-MX" dirty="0"/>
              <a:t> Network </a:t>
            </a:r>
            <a:r>
              <a:rPr lang="es-MX" dirty="0" err="1"/>
              <a:t>Estimation</a:t>
            </a:r>
            <a:endParaRPr lang="es-419" dirty="0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A4EC8F3A-4D9F-27E7-58BC-788022121C0B}"/>
              </a:ext>
            </a:extLst>
          </p:cNvPr>
          <p:cNvSpPr txBox="1"/>
          <p:nvPr/>
        </p:nvSpPr>
        <p:spPr>
          <a:xfrm>
            <a:off x="11389828" y="5135304"/>
            <a:ext cx="48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…</a:t>
            </a:r>
            <a:endParaRPr lang="es-419" b="1" dirty="0"/>
          </a:p>
        </p:txBody>
      </p:sp>
      <p:pic>
        <p:nvPicPr>
          <p:cNvPr id="117" name="Imagen 116">
            <a:extLst>
              <a:ext uri="{FF2B5EF4-FFF2-40B4-BE49-F238E27FC236}">
                <a16:creationId xmlns:a16="http://schemas.microsoft.com/office/drawing/2014/main" id="{DCE93058-4E76-E08F-D8D7-E7DCBB91C4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1113" y="4513770"/>
            <a:ext cx="1784312" cy="1766288"/>
          </a:xfrm>
          <a:prstGeom prst="rect">
            <a:avLst/>
          </a:prstGeom>
        </p:spPr>
      </p:pic>
      <p:sp>
        <p:nvSpPr>
          <p:cNvPr id="97" name="CuadroTexto 96">
            <a:extLst>
              <a:ext uri="{FF2B5EF4-FFF2-40B4-BE49-F238E27FC236}">
                <a16:creationId xmlns:a16="http://schemas.microsoft.com/office/drawing/2014/main" id="{5D2F388B-2335-60B9-F2C9-D29485729F81}"/>
              </a:ext>
            </a:extLst>
          </p:cNvPr>
          <p:cNvSpPr txBox="1"/>
          <p:nvPr/>
        </p:nvSpPr>
        <p:spPr>
          <a:xfrm>
            <a:off x="7701199" y="4432217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pic>
        <p:nvPicPr>
          <p:cNvPr id="119" name="Imagen 118">
            <a:extLst>
              <a:ext uri="{FF2B5EF4-FFF2-40B4-BE49-F238E27FC236}">
                <a16:creationId xmlns:a16="http://schemas.microsoft.com/office/drawing/2014/main" id="{9B5065BE-A7B1-F777-63B4-BD1512B47B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77537" y="4561172"/>
            <a:ext cx="1784311" cy="1684858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42E1E385-3304-33E0-5FA5-60A9CED0E5AC}"/>
              </a:ext>
            </a:extLst>
          </p:cNvPr>
          <p:cNvSpPr txBox="1"/>
          <p:nvPr/>
        </p:nvSpPr>
        <p:spPr>
          <a:xfrm>
            <a:off x="9497546" y="4433582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0E59AA-5C5F-DAE8-C379-9A0C5F00B8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961" y="4714333"/>
            <a:ext cx="4065123" cy="162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C4A5573-1170-3E43-BAC8-F4B486CFF732}"/>
              </a:ext>
            </a:extLst>
          </p:cNvPr>
          <p:cNvSpPr/>
          <p:nvPr/>
        </p:nvSpPr>
        <p:spPr>
          <a:xfrm>
            <a:off x="1046205" y="1296757"/>
            <a:ext cx="9901881" cy="4023314"/>
          </a:xfrm>
          <a:prstGeom prst="roundRect">
            <a:avLst>
              <a:gd name="adj" fmla="val 106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18360BA-5C69-967B-C60C-88FECDD89CB5}"/>
              </a:ext>
            </a:extLst>
          </p:cNvPr>
          <p:cNvSpPr/>
          <p:nvPr/>
        </p:nvSpPr>
        <p:spPr>
          <a:xfrm>
            <a:off x="4406309" y="1537929"/>
            <a:ext cx="45719" cy="3434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E64EBB-5F03-9FFC-79BB-5E7BBF1A2AE5}"/>
              </a:ext>
            </a:extLst>
          </p:cNvPr>
          <p:cNvSpPr txBox="1"/>
          <p:nvPr/>
        </p:nvSpPr>
        <p:spPr>
          <a:xfrm>
            <a:off x="1401051" y="1459293"/>
            <a:ext cx="25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Common Network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6429B9-8ACD-3536-1D9D-D951DDFB7ADE}"/>
              </a:ext>
            </a:extLst>
          </p:cNvPr>
          <p:cNvSpPr txBox="1"/>
          <p:nvPr/>
        </p:nvSpPr>
        <p:spPr>
          <a:xfrm>
            <a:off x="4455502" y="1458695"/>
            <a:ext cx="328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</a:t>
            </a:r>
            <a:r>
              <a:rPr lang="es-MX" dirty="0" err="1"/>
              <a:t>Socioeconomic</a:t>
            </a:r>
            <a:r>
              <a:rPr lang="es-MX" dirty="0"/>
              <a:t> </a:t>
            </a:r>
            <a:r>
              <a:rPr lang="es-MX" dirty="0" err="1"/>
              <a:t>Effects</a:t>
            </a:r>
            <a:endParaRPr lang="es-MX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EBACED-8901-4573-CFC3-A2DCBDFD005E}"/>
              </a:ext>
            </a:extLst>
          </p:cNvPr>
          <p:cNvSpPr txBox="1"/>
          <p:nvPr/>
        </p:nvSpPr>
        <p:spPr>
          <a:xfrm>
            <a:off x="8277303" y="1458695"/>
            <a:ext cx="197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/>
              <a:t>Gender</a:t>
            </a:r>
            <a:r>
              <a:rPr lang="es-MX" dirty="0"/>
              <a:t> </a:t>
            </a:r>
            <a:r>
              <a:rPr lang="es-MX" dirty="0" err="1"/>
              <a:t>Effects</a:t>
            </a:r>
            <a:endParaRPr lang="es-MX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5DD7899-DCD5-ED8F-D935-FCBC3DCCF545}"/>
              </a:ext>
            </a:extLst>
          </p:cNvPr>
          <p:cNvSpPr/>
          <p:nvPr/>
        </p:nvSpPr>
        <p:spPr>
          <a:xfrm>
            <a:off x="515496" y="30506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C</a:t>
            </a:r>
            <a:endParaRPr lang="es-419" b="1" dirty="0">
              <a:solidFill>
                <a:schemeClr val="tx1"/>
              </a:solidFill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31889D7C-041D-C61A-58EB-1640428BD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38" y="1928603"/>
            <a:ext cx="3048425" cy="3000794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27F0DF17-6BE0-948E-A26A-F83E98A53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238" y="1912202"/>
            <a:ext cx="2972215" cy="2972215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17C1F4D4-137E-DC5F-C4AD-32A103F56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399" y="1921729"/>
            <a:ext cx="2981741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1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68EC76C-F1D5-6A17-46E7-C10A703545B3}"/>
              </a:ext>
            </a:extLst>
          </p:cNvPr>
          <p:cNvSpPr/>
          <p:nvPr/>
        </p:nvSpPr>
        <p:spPr>
          <a:xfrm>
            <a:off x="1125337" y="968990"/>
            <a:ext cx="10339130" cy="4404121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958C940-6F1E-3B71-E431-3F1806AA1711}"/>
              </a:ext>
            </a:extLst>
          </p:cNvPr>
          <p:cNvSpPr/>
          <p:nvPr/>
        </p:nvSpPr>
        <p:spPr>
          <a:xfrm>
            <a:off x="1220565" y="146668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DE6BF1-4561-6604-862A-603CE433B245}"/>
              </a:ext>
            </a:extLst>
          </p:cNvPr>
          <p:cNvSpPr txBox="1"/>
          <p:nvPr/>
        </p:nvSpPr>
        <p:spPr>
          <a:xfrm>
            <a:off x="2939931" y="1064874"/>
            <a:ext cx="67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Individual Network </a:t>
            </a:r>
            <a:r>
              <a:rPr lang="es-MX" dirty="0" err="1"/>
              <a:t>Estimation</a:t>
            </a:r>
            <a:endParaRPr lang="es-419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1800223-A6B2-B4D7-C00B-77AF34BEF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76" y="2078779"/>
            <a:ext cx="2429214" cy="24863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A620839-7221-D689-BD06-56A1C4336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549" y="2029286"/>
            <a:ext cx="2467319" cy="245779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BD9D2D7-006A-6FD9-49FF-E4BF65219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688" y="2057864"/>
            <a:ext cx="2505425" cy="240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94140B6-5C48-E512-3CAB-471407662E18}"/>
                  </a:ext>
                </a:extLst>
              </p:cNvPr>
              <p:cNvSpPr txBox="1"/>
              <p:nvPr/>
            </p:nvSpPr>
            <p:spPr>
              <a:xfrm rot="16200000">
                <a:off x="9707330" y="2796516"/>
                <a:ext cx="4887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5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5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94140B6-5C48-E512-3CAB-471407662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707330" y="2796516"/>
                <a:ext cx="48877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6BDCC1A5-3187-32F2-41CA-EC680EB7FCE2}"/>
              </a:ext>
            </a:extLst>
          </p:cNvPr>
          <p:cNvSpPr txBox="1"/>
          <p:nvPr/>
        </p:nvSpPr>
        <p:spPr>
          <a:xfrm>
            <a:off x="1944405" y="1583241"/>
            <a:ext cx="1537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 err="1"/>
              <a:t>Subject</a:t>
            </a:r>
            <a:r>
              <a:rPr lang="es-MX" sz="1600" dirty="0"/>
              <a:t> 1</a:t>
            </a:r>
            <a:endParaRPr lang="es-419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14A7A7-4A7E-AF8B-C83B-B2AF22C91068}"/>
              </a:ext>
            </a:extLst>
          </p:cNvPr>
          <p:cNvSpPr txBox="1"/>
          <p:nvPr/>
        </p:nvSpPr>
        <p:spPr>
          <a:xfrm>
            <a:off x="4571531" y="1583241"/>
            <a:ext cx="1537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 err="1"/>
              <a:t>Subject</a:t>
            </a:r>
            <a:r>
              <a:rPr lang="es-MX" sz="1600" dirty="0"/>
              <a:t> 2</a:t>
            </a:r>
            <a:endParaRPr lang="es-419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5975749-5545-9AEE-93DF-C5132FD6A680}"/>
              </a:ext>
            </a:extLst>
          </p:cNvPr>
          <p:cNvSpPr txBox="1"/>
          <p:nvPr/>
        </p:nvSpPr>
        <p:spPr>
          <a:xfrm>
            <a:off x="7232744" y="1628317"/>
            <a:ext cx="1537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 err="1"/>
              <a:t>Subject</a:t>
            </a:r>
            <a:r>
              <a:rPr lang="es-MX" sz="1600" dirty="0"/>
              <a:t> 3</a:t>
            </a:r>
            <a:endParaRPr lang="es-419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8631B8C-6548-CB61-6CEA-2D914FD560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183" r="1672"/>
          <a:stretch>
            <a:fillRect/>
          </a:stretch>
        </p:blipFill>
        <p:spPr>
          <a:xfrm rot="5400000">
            <a:off x="7826400" y="4566914"/>
            <a:ext cx="430887" cy="66980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D5246A2-D1A6-5531-C838-5D39B84E4D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64" y="4703559"/>
            <a:ext cx="635335" cy="3965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D826EDF-4845-726F-215A-17EFEEF5D6E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131" t="15506" r="22007" b="29689"/>
          <a:stretch>
            <a:fillRect/>
          </a:stretch>
        </p:blipFill>
        <p:spPr>
          <a:xfrm rot="5400000">
            <a:off x="4698926" y="4588233"/>
            <a:ext cx="366109" cy="59676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98EF8302-864E-9C43-7317-8D5DBD3FB002}"/>
              </a:ext>
            </a:extLst>
          </p:cNvPr>
          <p:cNvSpPr txBox="1"/>
          <p:nvPr/>
        </p:nvSpPr>
        <p:spPr>
          <a:xfrm>
            <a:off x="2701390" y="4732539"/>
            <a:ext cx="176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 err="1"/>
              <a:t>Shared</a:t>
            </a:r>
            <a:r>
              <a:rPr lang="es-MX" sz="1600" dirty="0"/>
              <a:t> Links</a:t>
            </a:r>
            <a:endParaRPr lang="es-419" sz="1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A51AB2E-D204-A627-A7A2-08F7D1A4D729}"/>
              </a:ext>
            </a:extLst>
          </p:cNvPr>
          <p:cNvSpPr txBox="1"/>
          <p:nvPr/>
        </p:nvSpPr>
        <p:spPr>
          <a:xfrm>
            <a:off x="5277853" y="4594226"/>
            <a:ext cx="17649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 err="1"/>
              <a:t>Socioeconomic</a:t>
            </a:r>
            <a:r>
              <a:rPr lang="es-MX" sz="1600" dirty="0"/>
              <a:t> </a:t>
            </a:r>
            <a:r>
              <a:rPr lang="es-MX" sz="1600" dirty="0" err="1"/>
              <a:t>moderated</a:t>
            </a:r>
            <a:r>
              <a:rPr lang="es-MX" sz="1600" dirty="0"/>
              <a:t>-links</a:t>
            </a:r>
            <a:endParaRPr lang="es-419" sz="16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BBD4ACF-9323-93B6-794E-58195FF7D285}"/>
              </a:ext>
            </a:extLst>
          </p:cNvPr>
          <p:cNvSpPr txBox="1"/>
          <p:nvPr/>
        </p:nvSpPr>
        <p:spPr>
          <a:xfrm>
            <a:off x="8376747" y="4598902"/>
            <a:ext cx="17649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 err="1"/>
              <a:t>Gender</a:t>
            </a:r>
            <a:r>
              <a:rPr lang="es-MX" sz="1600" dirty="0"/>
              <a:t> </a:t>
            </a:r>
            <a:r>
              <a:rPr lang="es-MX" sz="1600" dirty="0" err="1"/>
              <a:t>moderated</a:t>
            </a:r>
            <a:r>
              <a:rPr lang="es-MX" sz="1600" dirty="0"/>
              <a:t>-links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303436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A3C0-0BCE-4811-A06A-E58E7473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5F5021B-DBFE-96BB-1501-E3FFDA0291A4}"/>
              </a:ext>
            </a:extLst>
          </p:cNvPr>
          <p:cNvSpPr/>
          <p:nvPr/>
        </p:nvSpPr>
        <p:spPr>
          <a:xfrm>
            <a:off x="1220565" y="146668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A7F7227-2F25-419C-8C22-F7548D064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76" y="2078779"/>
            <a:ext cx="2429214" cy="24863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0A90E1F-5FFD-1D64-414B-FDE442B8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549" y="2029286"/>
            <a:ext cx="2467319" cy="245779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42DC58-DF4F-A5A2-03AB-FF6D46BF8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688" y="2057864"/>
            <a:ext cx="2505425" cy="240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E89A161-9FAE-61C2-E995-0CA6446C3CBD}"/>
                  </a:ext>
                </a:extLst>
              </p:cNvPr>
              <p:cNvSpPr txBox="1"/>
              <p:nvPr/>
            </p:nvSpPr>
            <p:spPr>
              <a:xfrm rot="16200000">
                <a:off x="9707330" y="2796516"/>
                <a:ext cx="4887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5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5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E89A161-9FAE-61C2-E995-0CA6446C3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707330" y="2796516"/>
                <a:ext cx="48877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24C637D4-A533-B665-DF09-2EF3EB4793B8}"/>
              </a:ext>
            </a:extLst>
          </p:cNvPr>
          <p:cNvSpPr txBox="1"/>
          <p:nvPr/>
        </p:nvSpPr>
        <p:spPr>
          <a:xfrm>
            <a:off x="1944405" y="1583241"/>
            <a:ext cx="1537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1</a:t>
            </a:r>
            <a:endParaRPr lang="es-419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64967C-97E8-138E-1FB1-CDDED53AF82C}"/>
              </a:ext>
            </a:extLst>
          </p:cNvPr>
          <p:cNvSpPr txBox="1"/>
          <p:nvPr/>
        </p:nvSpPr>
        <p:spPr>
          <a:xfrm>
            <a:off x="4571531" y="1583241"/>
            <a:ext cx="1537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2</a:t>
            </a:r>
            <a:endParaRPr lang="es-419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DCB00B-2F7F-1A10-3618-5DEC1EA66349}"/>
              </a:ext>
            </a:extLst>
          </p:cNvPr>
          <p:cNvSpPr txBox="1"/>
          <p:nvPr/>
        </p:nvSpPr>
        <p:spPr>
          <a:xfrm>
            <a:off x="7232744" y="1628317"/>
            <a:ext cx="1537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3</a:t>
            </a:r>
            <a:endParaRPr lang="es-419" sz="2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D311F73-9D25-DCBC-B41C-16180E7C22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183" r="1672"/>
          <a:stretch>
            <a:fillRect/>
          </a:stretch>
        </p:blipFill>
        <p:spPr>
          <a:xfrm rot="5400000">
            <a:off x="7207419" y="4613907"/>
            <a:ext cx="430887" cy="66980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5265070-B744-ED2F-C571-A739C4181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070" y="4751516"/>
            <a:ext cx="635335" cy="3965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2C9A070-BF3D-D70D-82F1-541B268FE35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131" t="15506" r="22007" b="29689"/>
          <a:stretch>
            <a:fillRect/>
          </a:stretch>
        </p:blipFill>
        <p:spPr>
          <a:xfrm rot="5400000">
            <a:off x="3843732" y="4650429"/>
            <a:ext cx="366109" cy="59676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270DF77D-3FA0-468B-C2E2-207B8E82BCFD}"/>
              </a:ext>
            </a:extLst>
          </p:cNvPr>
          <p:cNvSpPr txBox="1"/>
          <p:nvPr/>
        </p:nvSpPr>
        <p:spPr>
          <a:xfrm>
            <a:off x="2022818" y="4563530"/>
            <a:ext cx="1424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Shared</a:t>
            </a:r>
            <a:r>
              <a:rPr lang="es-MX" sz="2400" dirty="0"/>
              <a:t> Links</a:t>
            </a:r>
            <a:endParaRPr lang="es-419" sz="2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089254-3873-F959-9A05-42009BA55D5E}"/>
              </a:ext>
            </a:extLst>
          </p:cNvPr>
          <p:cNvSpPr txBox="1"/>
          <p:nvPr/>
        </p:nvSpPr>
        <p:spPr>
          <a:xfrm>
            <a:off x="4403581" y="4563161"/>
            <a:ext cx="2344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Socioeconomic</a:t>
            </a:r>
            <a:r>
              <a:rPr lang="es-MX" sz="2400" dirty="0"/>
              <a:t> </a:t>
            </a:r>
            <a:r>
              <a:rPr lang="es-MX" sz="2400" dirty="0" err="1"/>
              <a:t>moderated</a:t>
            </a:r>
            <a:r>
              <a:rPr lang="es-MX" sz="2400" dirty="0"/>
              <a:t>-links</a:t>
            </a:r>
            <a:endParaRPr lang="es-419" sz="24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1FB36BE-93C8-3734-0842-8AEB992DFCCB}"/>
              </a:ext>
            </a:extLst>
          </p:cNvPr>
          <p:cNvSpPr txBox="1"/>
          <p:nvPr/>
        </p:nvSpPr>
        <p:spPr>
          <a:xfrm>
            <a:off x="7884452" y="4563161"/>
            <a:ext cx="2344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Physical</a:t>
            </a:r>
            <a:r>
              <a:rPr lang="es-MX" sz="2400" dirty="0"/>
              <a:t> </a:t>
            </a:r>
            <a:r>
              <a:rPr lang="es-MX" sz="2400" dirty="0" err="1"/>
              <a:t>Health</a:t>
            </a:r>
            <a:r>
              <a:rPr lang="es-MX" sz="2400" dirty="0"/>
              <a:t> </a:t>
            </a:r>
            <a:r>
              <a:rPr lang="es-MX" sz="2400" dirty="0" err="1"/>
              <a:t>moderated</a:t>
            </a:r>
            <a:r>
              <a:rPr lang="es-MX" sz="2400" dirty="0"/>
              <a:t>-links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25675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3B73-2042-C432-A37B-185A204F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F806BF7-4769-6B98-EC11-2971D6FFD384}"/>
              </a:ext>
            </a:extLst>
          </p:cNvPr>
          <p:cNvSpPr/>
          <p:nvPr/>
        </p:nvSpPr>
        <p:spPr>
          <a:xfrm>
            <a:off x="1220565" y="146668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F0E753C-73E6-8CED-A788-107544743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76" y="2078779"/>
            <a:ext cx="2429214" cy="24863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701409F-9394-1FB6-9A81-7740D78D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549" y="2029286"/>
            <a:ext cx="2467319" cy="245779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776D157-217E-F4B1-2A59-F31580927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688" y="2057864"/>
            <a:ext cx="2505425" cy="240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2E9CB3C-8774-8188-3FE2-70081A69B99B}"/>
                  </a:ext>
                </a:extLst>
              </p:cNvPr>
              <p:cNvSpPr txBox="1"/>
              <p:nvPr/>
            </p:nvSpPr>
            <p:spPr>
              <a:xfrm rot="16200000">
                <a:off x="9707330" y="2796516"/>
                <a:ext cx="4887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5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5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E89A161-9FAE-61C2-E995-0CA6446C3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707330" y="2796516"/>
                <a:ext cx="48877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A07A174D-872B-6A40-4A29-4ED740713359}"/>
              </a:ext>
            </a:extLst>
          </p:cNvPr>
          <p:cNvSpPr txBox="1"/>
          <p:nvPr/>
        </p:nvSpPr>
        <p:spPr>
          <a:xfrm>
            <a:off x="1944405" y="1583241"/>
            <a:ext cx="1537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1</a:t>
            </a:r>
            <a:endParaRPr lang="es-419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8A30E5-53F9-B769-EDDC-2DBDF8877F47}"/>
              </a:ext>
            </a:extLst>
          </p:cNvPr>
          <p:cNvSpPr txBox="1"/>
          <p:nvPr/>
        </p:nvSpPr>
        <p:spPr>
          <a:xfrm>
            <a:off x="4571531" y="1583241"/>
            <a:ext cx="1537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2</a:t>
            </a:r>
            <a:endParaRPr lang="es-419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6F18A8-82C2-4688-1B44-84E88B50E58B}"/>
              </a:ext>
            </a:extLst>
          </p:cNvPr>
          <p:cNvSpPr txBox="1"/>
          <p:nvPr/>
        </p:nvSpPr>
        <p:spPr>
          <a:xfrm>
            <a:off x="7232744" y="1628317"/>
            <a:ext cx="1537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3</a:t>
            </a:r>
            <a:endParaRPr lang="es-419" sz="2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4668D0E-05C5-9B9A-A890-CA2E24B419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183" r="1672"/>
          <a:stretch>
            <a:fillRect/>
          </a:stretch>
        </p:blipFill>
        <p:spPr>
          <a:xfrm rot="5400000">
            <a:off x="7207419" y="4613907"/>
            <a:ext cx="430887" cy="66980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83C7AE7-D321-8A0E-D1E2-C9DA07A46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070" y="4751516"/>
            <a:ext cx="635335" cy="3965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219130E-C993-A215-10BA-40FE25F2F0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131" t="15506" r="22007" b="29689"/>
          <a:stretch>
            <a:fillRect/>
          </a:stretch>
        </p:blipFill>
        <p:spPr>
          <a:xfrm rot="5400000">
            <a:off x="3843732" y="4650429"/>
            <a:ext cx="366109" cy="59676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109C97E-6900-94C3-20D2-5B9E539F4947}"/>
              </a:ext>
            </a:extLst>
          </p:cNvPr>
          <p:cNvSpPr txBox="1"/>
          <p:nvPr/>
        </p:nvSpPr>
        <p:spPr>
          <a:xfrm>
            <a:off x="2022818" y="4563530"/>
            <a:ext cx="14246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Shared</a:t>
            </a:r>
            <a:r>
              <a:rPr lang="es-MX" sz="2400" dirty="0"/>
              <a:t> Links</a:t>
            </a:r>
            <a:endParaRPr lang="es-419" sz="2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4A23F2C-7DD3-5E71-2C0D-A7A18D257144}"/>
              </a:ext>
            </a:extLst>
          </p:cNvPr>
          <p:cNvSpPr txBox="1"/>
          <p:nvPr/>
        </p:nvSpPr>
        <p:spPr>
          <a:xfrm>
            <a:off x="4403581" y="4563161"/>
            <a:ext cx="2344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Socioeconomic</a:t>
            </a:r>
            <a:r>
              <a:rPr lang="es-MX" sz="2400" dirty="0"/>
              <a:t> </a:t>
            </a:r>
            <a:r>
              <a:rPr lang="es-MX" sz="2400" dirty="0" err="1"/>
              <a:t>moderated</a:t>
            </a:r>
            <a:r>
              <a:rPr lang="es-MX" sz="2400" dirty="0"/>
              <a:t>-links</a:t>
            </a:r>
            <a:endParaRPr lang="es-419" sz="24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183CA7E-6E4D-E145-7D35-4296D5F49FE2}"/>
              </a:ext>
            </a:extLst>
          </p:cNvPr>
          <p:cNvSpPr txBox="1"/>
          <p:nvPr/>
        </p:nvSpPr>
        <p:spPr>
          <a:xfrm>
            <a:off x="7884452" y="4563161"/>
            <a:ext cx="2344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Physical</a:t>
            </a:r>
            <a:r>
              <a:rPr lang="es-MX" sz="2400" dirty="0"/>
              <a:t> </a:t>
            </a:r>
            <a:r>
              <a:rPr lang="es-MX" sz="2400" dirty="0" err="1"/>
              <a:t>Health</a:t>
            </a:r>
            <a:r>
              <a:rPr lang="es-MX" sz="2400" dirty="0"/>
              <a:t> </a:t>
            </a:r>
            <a:r>
              <a:rPr lang="es-MX" sz="2400" dirty="0" err="1"/>
              <a:t>moderated</a:t>
            </a:r>
            <a:r>
              <a:rPr lang="es-MX" sz="2400" dirty="0"/>
              <a:t>-links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222238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AA6E-0E78-478B-9D61-C08C7390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951F505-A0D9-F5E4-8A68-A4E709427A0E}"/>
              </a:ext>
            </a:extLst>
          </p:cNvPr>
          <p:cNvSpPr/>
          <p:nvPr/>
        </p:nvSpPr>
        <p:spPr>
          <a:xfrm>
            <a:off x="1220565" y="146668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57CC7E-841D-1B9E-1CB8-9913C639C6CD}"/>
              </a:ext>
            </a:extLst>
          </p:cNvPr>
          <p:cNvSpPr txBox="1"/>
          <p:nvPr/>
        </p:nvSpPr>
        <p:spPr>
          <a:xfrm>
            <a:off x="896382" y="1524335"/>
            <a:ext cx="1537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1</a:t>
            </a:r>
            <a:endParaRPr lang="es-419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C3B421-2B64-A458-509C-93B78DA88C41}"/>
              </a:ext>
            </a:extLst>
          </p:cNvPr>
          <p:cNvSpPr txBox="1"/>
          <p:nvPr/>
        </p:nvSpPr>
        <p:spPr>
          <a:xfrm>
            <a:off x="4019690" y="1524335"/>
            <a:ext cx="1537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2</a:t>
            </a:r>
            <a:endParaRPr lang="es-419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3DB0EE-52BC-D722-A8EE-A66E393E0F49}"/>
              </a:ext>
            </a:extLst>
          </p:cNvPr>
          <p:cNvSpPr txBox="1"/>
          <p:nvPr/>
        </p:nvSpPr>
        <p:spPr>
          <a:xfrm>
            <a:off x="7129899" y="1524335"/>
            <a:ext cx="1537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/>
              <a:t>Subject</a:t>
            </a:r>
            <a:r>
              <a:rPr lang="es-MX" sz="2400" dirty="0"/>
              <a:t> 3</a:t>
            </a:r>
            <a:endParaRPr lang="es-419" sz="2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BCF5234-1E4C-FDFC-002A-AF240C2C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83" r="1672" b="4158"/>
          <a:stretch>
            <a:fillRect/>
          </a:stretch>
        </p:blipFill>
        <p:spPr>
          <a:xfrm rot="5400000">
            <a:off x="9524215" y="3960408"/>
            <a:ext cx="430887" cy="59382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6690DA9-FD96-5F47-DA0F-D78B57242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749" y="2079900"/>
            <a:ext cx="593820" cy="3965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2C07168-9267-DA57-49E9-3C0CCC233D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31" t="15507" r="13184" b="26145"/>
          <a:stretch>
            <a:fillRect/>
          </a:stretch>
        </p:blipFill>
        <p:spPr>
          <a:xfrm rot="5400000">
            <a:off x="9524215" y="3064774"/>
            <a:ext cx="430888" cy="593821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E85A4AE-88BB-8B37-9F72-9512DE8DF968}"/>
              </a:ext>
            </a:extLst>
          </p:cNvPr>
          <p:cNvSpPr txBox="1"/>
          <p:nvPr/>
        </p:nvSpPr>
        <p:spPr>
          <a:xfrm>
            <a:off x="10175940" y="1924217"/>
            <a:ext cx="15512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 err="1"/>
              <a:t>Shared</a:t>
            </a:r>
            <a:r>
              <a:rPr lang="es-MX" sz="2000" dirty="0"/>
              <a:t> Links</a:t>
            </a:r>
            <a:endParaRPr lang="es-419" sz="20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5740817-3657-5577-FF5A-9CD25EF7925B}"/>
              </a:ext>
            </a:extLst>
          </p:cNvPr>
          <p:cNvSpPr txBox="1"/>
          <p:nvPr/>
        </p:nvSpPr>
        <p:spPr>
          <a:xfrm>
            <a:off x="10175940" y="3003870"/>
            <a:ext cx="2016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 err="1"/>
              <a:t>Socioeconomic</a:t>
            </a:r>
            <a:r>
              <a:rPr lang="es-MX" sz="2000" dirty="0"/>
              <a:t> </a:t>
            </a:r>
            <a:r>
              <a:rPr lang="es-MX" sz="2000" dirty="0" err="1"/>
              <a:t>moderated</a:t>
            </a:r>
            <a:r>
              <a:rPr lang="es-MX" sz="2000" dirty="0"/>
              <a:t>-links</a:t>
            </a:r>
            <a:endParaRPr lang="es-419" sz="20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CC62DF-A566-CA3D-F743-3DDCB7880F89}"/>
              </a:ext>
            </a:extLst>
          </p:cNvPr>
          <p:cNvSpPr txBox="1"/>
          <p:nvPr/>
        </p:nvSpPr>
        <p:spPr>
          <a:xfrm>
            <a:off x="10175575" y="3903375"/>
            <a:ext cx="2016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 err="1"/>
              <a:t>Physical</a:t>
            </a:r>
            <a:r>
              <a:rPr lang="es-MX" sz="2000" dirty="0"/>
              <a:t> </a:t>
            </a:r>
            <a:r>
              <a:rPr lang="es-MX" sz="2000" dirty="0" err="1"/>
              <a:t>Health</a:t>
            </a:r>
            <a:r>
              <a:rPr lang="es-MX" sz="2000" dirty="0"/>
              <a:t> </a:t>
            </a:r>
            <a:r>
              <a:rPr lang="es-MX" sz="2000" dirty="0" err="1"/>
              <a:t>moderated</a:t>
            </a:r>
            <a:r>
              <a:rPr lang="es-MX" sz="2000" dirty="0"/>
              <a:t>-links</a:t>
            </a:r>
            <a:endParaRPr lang="es-419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7EB760-790E-AEC4-DC3C-B94735A95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58" y="1932440"/>
            <a:ext cx="2896004" cy="28578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BCFE568-A841-A417-35A2-32774F7C9C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602" y="1903862"/>
            <a:ext cx="2905530" cy="291505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98DA5E2-A33E-6A67-FBE0-A959580C3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672" y="1909811"/>
            <a:ext cx="291505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90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233</Words>
  <Application>Microsoft Office PowerPoint</Application>
  <PresentationFormat>Panorámica</PresentationFormat>
  <Paragraphs>152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 Sanchez Gomez</dc:creator>
  <cp:lastModifiedBy>Jose A Sanchez Gomez</cp:lastModifiedBy>
  <cp:revision>5</cp:revision>
  <dcterms:created xsi:type="dcterms:W3CDTF">2025-10-27T22:12:43Z</dcterms:created>
  <dcterms:modified xsi:type="dcterms:W3CDTF">2026-03-12T15:46:46Z</dcterms:modified>
</cp:coreProperties>
</file>