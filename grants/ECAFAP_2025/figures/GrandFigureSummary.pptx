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419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9" autoAdjust="0"/>
    <p:restoredTop sz="94257" autoAdjust="0"/>
  </p:normalViewPr>
  <p:slideViewPr>
    <p:cSldViewPr snapToGrid="0">
      <p:cViewPr varScale="1">
        <p:scale>
          <a:sx n="116" d="100"/>
          <a:sy n="116" d="100"/>
        </p:scale>
        <p:origin x="108" y="276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6B29C5-F5D7-F306-F8E0-76B20C7414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2CA397C-B0FC-BC86-8954-9910DE376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C45671D-DCC8-B0BB-C2C6-6B491D87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453BEA-6F0E-E13A-1B50-8974B0EF2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CD384DC-05F1-30E0-AA19-B26E750DA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666276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43647F-F71A-B219-80CB-95163DCD5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F23346-5654-F580-3863-E0AA973994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D1D584-2181-42D7-9883-61A15C177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EBEBB44-9F29-DE1F-918D-08DC4DC5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DDE14C-A928-CE8E-BB62-7CCA7C253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217546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F6EEA7-F060-067B-57A2-67014048E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C6FE9D-FB6A-3BA9-3A63-232C5D69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18238B-9B64-A471-BEA0-8CF59205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0D3CF3-F2DC-4491-859C-073795A92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EBE0FE-B722-DD9B-DDCC-B0E9838DA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164790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037DB0-0C5B-424C-A28E-F33ADA0AF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4F4AB9-BFCC-7322-4644-4A6F7B735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0D596DC-BA41-40A2-72D3-5DA9BA0BC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303B9B4-E3DE-1CAE-B03D-E816B6BC1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0A915FD-377E-1CFD-D87D-EC512B61A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41DF828-831D-42C9-BC68-A8A4AC9F4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2818095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C89FA7-6D83-1598-6E27-90730D394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B159F6-10C0-EF11-3DE0-55BB3CAEF1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844AA93-2B81-631C-DF66-10D3D0D780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3D28102-F798-6DCE-3C72-114F97198D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A77841-0EE8-DFD9-4C6B-BC99D7C52F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C26E1D-9103-809C-4065-BD30A0B87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F4A6844-EBED-1D2E-6D21-3312F06CF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760B21B-4866-3197-B8D8-BD277EBC5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8521059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3CA8A-FA46-35EF-9DEC-D2B41CAB7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C01D4DB-FCDA-6C9D-D4F5-259C92F87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027BA1C-357C-E7F7-2FCA-E2A849BD8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A7578D5-4579-327A-AC91-A1B2B409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42178026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7DD9FD-3268-86DD-E1C6-45A0999C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C9B2C063-B376-93D7-44F2-C296917C9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6BE940-3D1A-0B9B-8B64-BE3672C87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0631019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D4A617-A306-2E34-0CD7-FC6A6F91A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556DE3-D445-6FB0-96DF-23D8923BD9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E89A1D-BDFA-1285-F03B-BC7B749C0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554F8E6-5AEC-94FB-7A81-932704CC9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510426-5373-BFE8-9BF1-3E2A16E1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A165839-8787-C2F2-C33B-63650E0E6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05444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D81598-5562-8DF7-7960-E7123FA51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F5311F7-B3A0-7CEB-E54C-75FB03BEC0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419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F7C31AA-0F7F-4E28-A07A-52FC04028C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BB7398-4B61-7528-ED87-A2A910AFB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5F03D4-0AEA-5289-67CB-943ADFED2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0E46D70-2225-3D07-60C3-D57F49BDB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74730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2A015F-EC21-0355-DE18-FCEDD81D3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49CC3FD-3A0C-0339-3140-AE142D889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5B9E25F-AEBC-A41F-32E1-01B727FD6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AEAC90-8375-604A-46BA-A9509CBB0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B9CB8E7-EF9A-A3A2-F403-60487611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312112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98B1538-5FB5-A8B0-85FA-1DA8CCEE1DC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521D85E-847B-EB79-E21B-7A1DD02E9C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C36ABF-FE4B-4464-4301-29C4920E7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5EDBB0-EC13-01CF-10D5-EB31552F10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C8E183-88E4-5778-8A38-118CFAE00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635272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BC83377-29B5-B752-8960-00EE5AEB2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419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FF457FB-B56C-8F66-C73E-D8D729881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419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B5A45B-6B7A-7A89-0358-C9C8FCF31A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674874-1FFC-4485-8D82-A2C7AC8AC36A}" type="datetimeFigureOut">
              <a:rPr lang="es-419" smtClean="0"/>
              <a:t>29/10/2025</a:t>
            </a:fld>
            <a:endParaRPr lang="es-419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0F649C-1268-EE25-8D24-5E413A32E4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419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1DC23E1-1EC3-DE3F-80F9-C62A4D32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9F19D-A806-4C88-8306-4D91918EE6C4}" type="slidenum">
              <a:rPr lang="es-419" smtClean="0"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10692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419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openxmlformats.org/officeDocument/2006/relationships/image" Target="../media/image27.png"/><Relationship Id="rId18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17.png"/><Relationship Id="rId2" Type="http://schemas.openxmlformats.org/officeDocument/2006/relationships/image" Target="../media/image1.png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5" Type="http://schemas.openxmlformats.org/officeDocument/2006/relationships/image" Target="../media/image15.png"/><Relationship Id="rId10" Type="http://schemas.openxmlformats.org/officeDocument/2006/relationships/image" Target="../media/image24.png"/><Relationship Id="rId4" Type="http://schemas.openxmlformats.org/officeDocument/2006/relationships/image" Target="../media/image3.png"/><Relationship Id="rId9" Type="http://schemas.openxmlformats.org/officeDocument/2006/relationships/image" Target="../media/image23.png"/><Relationship Id="rId1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C05D39EC-52A5-7B0D-B0D8-0D6F7056A750}"/>
              </a:ext>
            </a:extLst>
          </p:cNvPr>
          <p:cNvSpPr/>
          <p:nvPr/>
        </p:nvSpPr>
        <p:spPr>
          <a:xfrm>
            <a:off x="5185240" y="4475673"/>
            <a:ext cx="6868538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pic>
        <p:nvPicPr>
          <p:cNvPr id="110" name="Imagen 109">
            <a:extLst>
              <a:ext uri="{FF2B5EF4-FFF2-40B4-BE49-F238E27FC236}">
                <a16:creationId xmlns:a16="http://schemas.microsoft.com/office/drawing/2014/main" id="{560A5163-61D7-402B-B965-C8C4A3892D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9746" y="4612064"/>
            <a:ext cx="1805454" cy="1739909"/>
          </a:xfrm>
          <a:prstGeom prst="rect">
            <a:avLst/>
          </a:prstGeom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0E571DEB-2701-F32B-E043-61F147FCF4DD}"/>
              </a:ext>
            </a:extLst>
          </p:cNvPr>
          <p:cNvSpPr/>
          <p:nvPr/>
        </p:nvSpPr>
        <p:spPr>
          <a:xfrm>
            <a:off x="498118" y="238792"/>
            <a:ext cx="3960583" cy="4083651"/>
          </a:xfrm>
          <a:prstGeom prst="roundRect">
            <a:avLst>
              <a:gd name="adj" fmla="val 704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r>
              <a:rPr lang="es-MX" b="1"/>
              <a:t>Sex</a:t>
            </a:r>
            <a:endParaRPr lang="es-419"/>
          </a:p>
          <a:p>
            <a:pPr fontAlgn="t"/>
            <a:r>
              <a:rPr lang="es-MX"/>
              <a:t>M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68CE2E8A-8836-04D4-DA26-8EF54C997B2A}"/>
              </a:ext>
            </a:extLst>
          </p:cNvPr>
          <p:cNvSpPr/>
          <p:nvPr/>
        </p:nvSpPr>
        <p:spPr>
          <a:xfrm>
            <a:off x="4655245" y="1773839"/>
            <a:ext cx="7447854" cy="2548604"/>
          </a:xfrm>
          <a:prstGeom prst="roundRect">
            <a:avLst>
              <a:gd name="adj" fmla="val 106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49074C07-45F5-F4D4-62C6-738410CDB50B}"/>
                  </a:ext>
                </a:extLst>
              </p:cNvPr>
              <p:cNvSpPr/>
              <p:nvPr/>
            </p:nvSpPr>
            <p:spPr>
              <a:xfrm>
                <a:off x="4613596" y="162641"/>
                <a:ext cx="7489503" cy="144780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</a:rPr>
                  <a:t>Model</a:t>
                </a:r>
                <a:endParaRPr lang="es-MX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e>
                      </m:acc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+∑</m:t>
                                      </m:r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419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49074C07-45F5-F4D4-62C6-738410CDB5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3596" y="162641"/>
                <a:ext cx="7489503" cy="1447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n 11">
            <a:extLst>
              <a:ext uri="{FF2B5EF4-FFF2-40B4-BE49-F238E27FC236}">
                <a16:creationId xmlns:a16="http://schemas.microsoft.com/office/drawing/2014/main" id="{7BF601F6-32D8-825C-E8A0-44ED7E288C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24" b="6808"/>
          <a:stretch>
            <a:fillRect/>
          </a:stretch>
        </p:blipFill>
        <p:spPr>
          <a:xfrm>
            <a:off x="1169716" y="352351"/>
            <a:ext cx="3135584" cy="1916503"/>
          </a:xfrm>
          <a:prstGeom prst="rect">
            <a:avLst/>
          </a:prstGeom>
        </p:spPr>
      </p:pic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592A9A12-B6B1-46F1-A348-BE8B302D7E60}"/>
              </a:ext>
            </a:extLst>
          </p:cNvPr>
          <p:cNvSpPr/>
          <p:nvPr/>
        </p:nvSpPr>
        <p:spPr>
          <a:xfrm>
            <a:off x="7332341" y="1963172"/>
            <a:ext cx="45719" cy="21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758C340B-12B2-A44A-3C86-31D9B4C6A4C6}"/>
              </a:ext>
            </a:extLst>
          </p:cNvPr>
          <p:cNvSpPr txBox="1"/>
          <p:nvPr/>
        </p:nvSpPr>
        <p:spPr>
          <a:xfrm>
            <a:off x="4844002" y="2035257"/>
            <a:ext cx="25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Common Network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EC03B116-CBC4-96BE-40F8-9724DC3741C9}"/>
              </a:ext>
            </a:extLst>
          </p:cNvPr>
          <p:cNvSpPr txBox="1"/>
          <p:nvPr/>
        </p:nvSpPr>
        <p:spPr>
          <a:xfrm>
            <a:off x="7467509" y="1848842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Socio-</a:t>
            </a:r>
            <a:r>
              <a:rPr lang="es-MX" dirty="0" err="1"/>
              <a:t>Economic</a:t>
            </a:r>
            <a:endParaRPr lang="es-MX" dirty="0"/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7207A3CA-9A79-AE48-76D0-132F007491FE}"/>
              </a:ext>
            </a:extLst>
          </p:cNvPr>
          <p:cNvSpPr txBox="1"/>
          <p:nvPr/>
        </p:nvSpPr>
        <p:spPr>
          <a:xfrm>
            <a:off x="9746317" y="1842969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Gender</a:t>
            </a:r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A8329C88-C5DE-EFC3-98FC-5F38FF8434BA}"/>
              </a:ext>
            </a:extLst>
          </p:cNvPr>
          <p:cNvSpPr txBox="1"/>
          <p:nvPr/>
        </p:nvSpPr>
        <p:spPr>
          <a:xfrm>
            <a:off x="721430" y="467539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92A0457C-4E31-F1A4-3C8B-035F1BAF5769}"/>
              </a:ext>
            </a:extLst>
          </p:cNvPr>
          <p:cNvSpPr txBox="1"/>
          <p:nvPr/>
        </p:nvSpPr>
        <p:spPr>
          <a:xfrm>
            <a:off x="710146" y="1063273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2035A2D1-AD1F-1280-7DB6-AF94C0B2BA59}"/>
              </a:ext>
            </a:extLst>
          </p:cNvPr>
          <p:cNvSpPr txBox="1"/>
          <p:nvPr/>
        </p:nvSpPr>
        <p:spPr>
          <a:xfrm>
            <a:off x="710146" y="1669934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4B508255-268A-C1AD-F219-25860A57B60D}"/>
                  </a:ext>
                </a:extLst>
              </p:cNvPr>
              <p:cNvSpPr txBox="1"/>
              <p:nvPr/>
            </p:nvSpPr>
            <p:spPr>
              <a:xfrm>
                <a:off x="721430" y="206661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4B508255-268A-C1AD-F219-25860A57B6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1430" y="2066612"/>
                <a:ext cx="48877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72DA8F3D-E38D-F975-3624-533017A8A244}"/>
              </a:ext>
            </a:extLst>
          </p:cNvPr>
          <p:cNvSpPr/>
          <p:nvPr/>
        </p:nvSpPr>
        <p:spPr>
          <a:xfrm>
            <a:off x="443948" y="4467729"/>
            <a:ext cx="4674152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/>
              <a:t>Prediction Error</a:t>
            </a:r>
            <a:endParaRPr lang="es-419" dirty="0">
              <a:solidFill>
                <a:schemeClr val="tx1"/>
              </a:solidFill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647A248A-F7FB-DDED-D13B-D3F228195632}"/>
              </a:ext>
            </a:extLst>
          </p:cNvPr>
          <p:cNvSpPr/>
          <p:nvPr/>
        </p:nvSpPr>
        <p:spPr>
          <a:xfrm>
            <a:off x="356357" y="148306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22946C2B-1FA2-0EF0-351A-F32536F00FE8}"/>
              </a:ext>
            </a:extLst>
          </p:cNvPr>
          <p:cNvSpPr/>
          <p:nvPr/>
        </p:nvSpPr>
        <p:spPr>
          <a:xfrm>
            <a:off x="4512852" y="103264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B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6915AD32-F1BF-CFF3-F75C-F84054B2692F}"/>
              </a:ext>
            </a:extLst>
          </p:cNvPr>
          <p:cNvSpPr/>
          <p:nvPr/>
        </p:nvSpPr>
        <p:spPr>
          <a:xfrm>
            <a:off x="4565796" y="1685389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C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7E9026A1-DAAB-B1D7-7B73-8CA904872BD5}"/>
              </a:ext>
            </a:extLst>
          </p:cNvPr>
          <p:cNvSpPr/>
          <p:nvPr/>
        </p:nvSpPr>
        <p:spPr>
          <a:xfrm>
            <a:off x="376808" y="4364179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D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D7DED6EB-9955-3858-3025-EFD1A4A5D4DE}"/>
              </a:ext>
            </a:extLst>
          </p:cNvPr>
          <p:cNvSpPr/>
          <p:nvPr/>
        </p:nvSpPr>
        <p:spPr>
          <a:xfrm>
            <a:off x="5176786" y="4390775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graphicFrame>
        <p:nvGraphicFramePr>
          <p:cNvPr id="75" name="Tabla 74">
            <a:extLst>
              <a:ext uri="{FF2B5EF4-FFF2-40B4-BE49-F238E27FC236}">
                <a16:creationId xmlns:a16="http://schemas.microsoft.com/office/drawing/2014/main" id="{5BCDDA67-C0C2-CAC1-FBEE-6D9E3DCEF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607406"/>
              </p:ext>
            </p:extLst>
          </p:nvPr>
        </p:nvGraphicFramePr>
        <p:xfrm>
          <a:off x="1360377" y="2691811"/>
          <a:ext cx="2361639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472949985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771050640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374501602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S. No.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 err="1"/>
                        <a:t>Soc-Ec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83361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S1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8129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S2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2283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 err="1"/>
                        <a:t>Middle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164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DEB73F7E-40FD-CB63-8530-27DF532F37D1}"/>
                  </a:ext>
                </a:extLst>
              </p:cNvPr>
              <p:cNvSpPr txBox="1"/>
              <p:nvPr/>
            </p:nvSpPr>
            <p:spPr>
              <a:xfrm>
                <a:off x="1452373" y="3911011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DEB73F7E-40FD-CB63-8530-27DF532F3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2373" y="3911011"/>
                <a:ext cx="48877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C1F9069-CCCC-4F57-6991-D0AC52E37D21}"/>
                  </a:ext>
                </a:extLst>
              </p:cNvPr>
              <p:cNvSpPr txBox="1"/>
              <p:nvPr/>
            </p:nvSpPr>
            <p:spPr>
              <a:xfrm>
                <a:off x="2230255" y="3922333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EC1F9069-CCCC-4F57-6991-D0AC52E37D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0255" y="3922333"/>
                <a:ext cx="48877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7D92F982-B03D-3F18-CF46-FCC713DE3AA4}"/>
                  </a:ext>
                </a:extLst>
              </p:cNvPr>
              <p:cNvSpPr txBox="1"/>
              <p:nvPr/>
            </p:nvSpPr>
            <p:spPr>
              <a:xfrm>
                <a:off x="2982282" y="3911011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7D92F982-B03D-3F18-CF46-FCC713DE3A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282" y="3911011"/>
                <a:ext cx="48877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5CFD8DC8-5217-194A-5C0A-4563FE50E09C}"/>
                  </a:ext>
                </a:extLst>
              </p:cNvPr>
              <p:cNvSpPr txBox="1"/>
              <p:nvPr/>
            </p:nvSpPr>
            <p:spPr>
              <a:xfrm>
                <a:off x="1324115" y="2210931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5CFD8DC8-5217-194A-5C0A-4563FE50E0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4115" y="2210931"/>
                <a:ext cx="48877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1F5FE93F-CF66-91E9-4D1C-F6A4B9580CC2}"/>
                  </a:ext>
                </a:extLst>
              </p:cNvPr>
              <p:cNvSpPr txBox="1"/>
              <p:nvPr/>
            </p:nvSpPr>
            <p:spPr>
              <a:xfrm>
                <a:off x="1926800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1F5FE93F-CF66-91E9-4D1C-F6A4B9580C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6800" y="2226226"/>
                <a:ext cx="48877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75BD868-E2EA-63B3-3477-95FF3117B23A}"/>
                  </a:ext>
                </a:extLst>
              </p:cNvPr>
              <p:cNvSpPr txBox="1"/>
              <p:nvPr/>
            </p:nvSpPr>
            <p:spPr>
              <a:xfrm>
                <a:off x="2576383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875BD868-E2EA-63B3-3477-95FF3117B2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6383" y="2226226"/>
                <a:ext cx="48877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4EEC2B-65A2-4124-29C9-5BD368F40877}"/>
                  </a:ext>
                </a:extLst>
              </p:cNvPr>
              <p:cNvSpPr txBox="1"/>
              <p:nvPr/>
            </p:nvSpPr>
            <p:spPr>
              <a:xfrm>
                <a:off x="3166689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654EEC2B-65A2-4124-29C9-5BD368F408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6689" y="2226226"/>
                <a:ext cx="48877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79CDD4FD-C67C-949A-8DA1-69B169B2DE43}"/>
                  </a:ext>
                </a:extLst>
              </p:cNvPr>
              <p:cNvSpPr txBox="1"/>
              <p:nvPr/>
            </p:nvSpPr>
            <p:spPr>
              <a:xfrm>
                <a:off x="3793376" y="2226226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79CDD4FD-C67C-949A-8DA1-69B169B2DE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3376" y="2226226"/>
                <a:ext cx="48877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CuadroTexto 86">
            <a:extLst>
              <a:ext uri="{FF2B5EF4-FFF2-40B4-BE49-F238E27FC236}">
                <a16:creationId xmlns:a16="http://schemas.microsoft.com/office/drawing/2014/main" id="{C8777293-4DAD-08A8-1D28-B992CCBA1DD9}"/>
              </a:ext>
            </a:extLst>
          </p:cNvPr>
          <p:cNvSpPr txBox="1"/>
          <p:nvPr/>
        </p:nvSpPr>
        <p:spPr>
          <a:xfrm>
            <a:off x="2163904" y="6348306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Time </a:t>
            </a:r>
            <a:r>
              <a:rPr lang="es-MX" dirty="0" err="1"/>
              <a:t>points</a:t>
            </a:r>
            <a:r>
              <a:rPr lang="es-MX" dirty="0"/>
              <a:t> (T)</a:t>
            </a:r>
            <a:endParaRPr lang="es-419" dirty="0"/>
          </a:p>
        </p:txBody>
      </p:sp>
      <p:pic>
        <p:nvPicPr>
          <p:cNvPr id="91" name="Imagen 90">
            <a:extLst>
              <a:ext uri="{FF2B5EF4-FFF2-40B4-BE49-F238E27FC236}">
                <a16:creationId xmlns:a16="http://schemas.microsoft.com/office/drawing/2014/main" id="{00882427-44A5-C60E-A75E-54E8CB3E92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67281" y="4789859"/>
            <a:ext cx="3608692" cy="1648112"/>
          </a:xfrm>
          <a:prstGeom prst="rect">
            <a:avLst/>
          </a:prstGeom>
        </p:spPr>
      </p:pic>
      <p:sp>
        <p:nvSpPr>
          <p:cNvPr id="92" name="CuadroTexto 91">
            <a:extLst>
              <a:ext uri="{FF2B5EF4-FFF2-40B4-BE49-F238E27FC236}">
                <a16:creationId xmlns:a16="http://schemas.microsoft.com/office/drawing/2014/main" id="{2BF70FCA-8BF7-D9B8-6DB2-EBF359D12879}"/>
              </a:ext>
            </a:extLst>
          </p:cNvPr>
          <p:cNvSpPr txBox="1"/>
          <p:nvPr/>
        </p:nvSpPr>
        <p:spPr>
          <a:xfrm rot="16200000">
            <a:off x="-159974" y="5551981"/>
            <a:ext cx="2052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 err="1"/>
              <a:t>Estimation</a:t>
            </a:r>
            <a:r>
              <a:rPr lang="es-MX" dirty="0"/>
              <a:t> Error </a:t>
            </a:r>
            <a:endParaRPr lang="es-419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E2519FF0-DF5F-11A9-31E8-0323D593A1EA}"/>
              </a:ext>
            </a:extLst>
          </p:cNvPr>
          <p:cNvSpPr txBox="1"/>
          <p:nvPr/>
        </p:nvSpPr>
        <p:spPr>
          <a:xfrm>
            <a:off x="1428602" y="4497196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10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339A3448-F014-8032-77FB-5CD34B060831}"/>
              </a:ext>
            </a:extLst>
          </p:cNvPr>
          <p:cNvSpPr txBox="1"/>
          <p:nvPr/>
        </p:nvSpPr>
        <p:spPr>
          <a:xfrm>
            <a:off x="3193220" y="4497196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20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59D4A410-E866-D017-60C7-29F4A5017DB8}"/>
              </a:ext>
            </a:extLst>
          </p:cNvPr>
          <p:cNvSpPr txBox="1"/>
          <p:nvPr/>
        </p:nvSpPr>
        <p:spPr>
          <a:xfrm>
            <a:off x="5608431" y="4511776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pic>
        <p:nvPicPr>
          <p:cNvPr id="100" name="Imagen 99">
            <a:extLst>
              <a:ext uri="{FF2B5EF4-FFF2-40B4-BE49-F238E27FC236}">
                <a16:creationId xmlns:a16="http://schemas.microsoft.com/office/drawing/2014/main" id="{2FFD4C7F-1CA1-76BD-036F-F21EB69758B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42147" y="2421609"/>
            <a:ext cx="1784312" cy="1766288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3ABB7D8E-BB8B-21B5-4707-D46243FB60F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21820" y="2416632"/>
            <a:ext cx="1766931" cy="1684748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EE60A059-5DE0-8DE3-1D35-C562BB921EE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866399" y="2466722"/>
            <a:ext cx="1847999" cy="1721175"/>
          </a:xfrm>
          <a:prstGeom prst="rect">
            <a:avLst/>
          </a:prstGeom>
        </p:spPr>
      </p:pic>
      <p:graphicFrame>
        <p:nvGraphicFramePr>
          <p:cNvPr id="107" name="Tabla 106">
            <a:extLst>
              <a:ext uri="{FF2B5EF4-FFF2-40B4-BE49-F238E27FC236}">
                <a16:creationId xmlns:a16="http://schemas.microsoft.com/office/drawing/2014/main" id="{4F52ECCF-A5B2-61FD-4262-D686E53EF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407706"/>
              </p:ext>
            </p:extLst>
          </p:nvPr>
        </p:nvGraphicFramePr>
        <p:xfrm>
          <a:off x="2147589" y="2695153"/>
          <a:ext cx="787213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1551294310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 err="1"/>
                        <a:t>Soc-Ec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93400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8866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38920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908014"/>
                  </a:ext>
                </a:extLst>
              </a:tr>
            </a:tbl>
          </a:graphicData>
        </a:graphic>
      </p:graphicFrame>
      <p:graphicFrame>
        <p:nvGraphicFramePr>
          <p:cNvPr id="108" name="Tabla 107">
            <a:extLst>
              <a:ext uri="{FF2B5EF4-FFF2-40B4-BE49-F238E27FC236}">
                <a16:creationId xmlns:a16="http://schemas.microsoft.com/office/drawing/2014/main" id="{903F8BBA-6526-CDBB-B0C1-B768EB6B18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9691960"/>
              </p:ext>
            </p:extLst>
          </p:nvPr>
        </p:nvGraphicFramePr>
        <p:xfrm>
          <a:off x="2934801" y="2695153"/>
          <a:ext cx="787213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707380661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5159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12852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972976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72536"/>
                  </a:ext>
                </a:extLst>
              </a:tr>
            </a:tbl>
          </a:graphicData>
        </a:graphic>
      </p:graphicFrame>
      <p:sp>
        <p:nvSpPr>
          <p:cNvPr id="115" name="CuadroTexto 114">
            <a:extLst>
              <a:ext uri="{FF2B5EF4-FFF2-40B4-BE49-F238E27FC236}">
                <a16:creationId xmlns:a16="http://schemas.microsoft.com/office/drawing/2014/main" id="{7AB85B0B-77CE-AD0A-FDC6-F8D2531733FB}"/>
              </a:ext>
            </a:extLst>
          </p:cNvPr>
          <p:cNvSpPr txBox="1"/>
          <p:nvPr/>
        </p:nvSpPr>
        <p:spPr>
          <a:xfrm>
            <a:off x="5234561" y="6381743"/>
            <a:ext cx="670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Covariate-</a:t>
            </a:r>
            <a:r>
              <a:rPr lang="es-MX" dirty="0" err="1"/>
              <a:t>Dependent</a:t>
            </a:r>
            <a:r>
              <a:rPr lang="es-MX" dirty="0"/>
              <a:t> Network </a:t>
            </a:r>
            <a:r>
              <a:rPr lang="es-MX" dirty="0" err="1"/>
              <a:t>Estimation</a:t>
            </a:r>
            <a:endParaRPr lang="es-419" dirty="0"/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C1687A49-ED4A-ED3E-6726-44FAD3B6A290}"/>
              </a:ext>
            </a:extLst>
          </p:cNvPr>
          <p:cNvSpPr txBox="1"/>
          <p:nvPr/>
        </p:nvSpPr>
        <p:spPr>
          <a:xfrm>
            <a:off x="11455731" y="5238568"/>
            <a:ext cx="48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…</a:t>
            </a:r>
            <a:endParaRPr lang="es-419" b="1" dirty="0"/>
          </a:p>
        </p:txBody>
      </p:sp>
      <p:pic>
        <p:nvPicPr>
          <p:cNvPr id="117" name="Imagen 116">
            <a:extLst>
              <a:ext uri="{FF2B5EF4-FFF2-40B4-BE49-F238E27FC236}">
                <a16:creationId xmlns:a16="http://schemas.microsoft.com/office/drawing/2014/main" id="{68CFC703-B625-4982-3A83-7A2BC2147A5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487016" y="4617034"/>
            <a:ext cx="1784312" cy="1766288"/>
          </a:xfrm>
          <a:prstGeom prst="rect">
            <a:avLst/>
          </a:prstGeom>
        </p:spPr>
      </p:pic>
      <p:sp>
        <p:nvSpPr>
          <p:cNvPr id="97" name="CuadroTexto 96">
            <a:extLst>
              <a:ext uri="{FF2B5EF4-FFF2-40B4-BE49-F238E27FC236}">
                <a16:creationId xmlns:a16="http://schemas.microsoft.com/office/drawing/2014/main" id="{68C4203C-E06E-B77C-7681-B5375398A883}"/>
              </a:ext>
            </a:extLst>
          </p:cNvPr>
          <p:cNvSpPr txBox="1"/>
          <p:nvPr/>
        </p:nvSpPr>
        <p:spPr>
          <a:xfrm>
            <a:off x="7767102" y="4535481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pic>
        <p:nvPicPr>
          <p:cNvPr id="119" name="Imagen 118">
            <a:extLst>
              <a:ext uri="{FF2B5EF4-FFF2-40B4-BE49-F238E27FC236}">
                <a16:creationId xmlns:a16="http://schemas.microsoft.com/office/drawing/2014/main" id="{6F022DDA-2E88-33F4-5A02-24B83CF4A67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443440" y="4664436"/>
            <a:ext cx="1784311" cy="1684858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CDD1CBDF-CED8-991D-25D3-64E9903354CD}"/>
              </a:ext>
            </a:extLst>
          </p:cNvPr>
          <p:cNvSpPr txBox="1"/>
          <p:nvPr/>
        </p:nvSpPr>
        <p:spPr>
          <a:xfrm>
            <a:off x="9563449" y="4536846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</p:spTree>
    <p:extLst>
      <p:ext uri="{BB962C8B-B14F-4D97-AF65-F5344CB8AC3E}">
        <p14:creationId xmlns:p14="http://schemas.microsoft.com/office/powerpoint/2010/main" val="2128513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9E9FB-AB0C-5B70-0D83-DC80C6BFB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ángulo: esquinas redondeadas 69">
            <a:extLst>
              <a:ext uri="{FF2B5EF4-FFF2-40B4-BE49-F238E27FC236}">
                <a16:creationId xmlns:a16="http://schemas.microsoft.com/office/drawing/2014/main" id="{FD3D67EE-02B0-4002-760E-777C56F64CD0}"/>
              </a:ext>
            </a:extLst>
          </p:cNvPr>
          <p:cNvSpPr/>
          <p:nvPr/>
        </p:nvSpPr>
        <p:spPr>
          <a:xfrm>
            <a:off x="5119337" y="4372409"/>
            <a:ext cx="6868538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>
              <a:solidFill>
                <a:schemeClr val="tx1"/>
              </a:solidFill>
            </a:endParaRPr>
          </a:p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p:pic>
        <p:nvPicPr>
          <p:cNvPr id="110" name="Imagen 109">
            <a:extLst>
              <a:ext uri="{FF2B5EF4-FFF2-40B4-BE49-F238E27FC236}">
                <a16:creationId xmlns:a16="http://schemas.microsoft.com/office/drawing/2014/main" id="{C5435B5B-EECD-AA6B-58B8-6CDC7F3BD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843" y="4508800"/>
            <a:ext cx="1805454" cy="1739909"/>
          </a:xfrm>
          <a:prstGeom prst="rect">
            <a:avLst/>
          </a:prstGeom>
        </p:spPr>
      </p:pic>
      <p:sp>
        <p:nvSpPr>
          <p:cNvPr id="48" name="Rectángulo: esquinas redondeadas 47">
            <a:extLst>
              <a:ext uri="{FF2B5EF4-FFF2-40B4-BE49-F238E27FC236}">
                <a16:creationId xmlns:a16="http://schemas.microsoft.com/office/drawing/2014/main" id="{BCDC8350-12C7-D199-712B-E728E5D4DF48}"/>
              </a:ext>
            </a:extLst>
          </p:cNvPr>
          <p:cNvSpPr/>
          <p:nvPr/>
        </p:nvSpPr>
        <p:spPr>
          <a:xfrm>
            <a:off x="432215" y="59378"/>
            <a:ext cx="3960583" cy="4159802"/>
          </a:xfrm>
          <a:prstGeom prst="roundRect">
            <a:avLst>
              <a:gd name="adj" fmla="val 704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t"/>
            <a:r>
              <a:rPr lang="es-MX" b="1"/>
              <a:t>Sex</a:t>
            </a:r>
            <a:endParaRPr lang="es-419"/>
          </a:p>
          <a:p>
            <a:pPr fontAlgn="t"/>
            <a:r>
              <a:rPr lang="es-MX"/>
              <a:t>M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  <a:p>
            <a:pPr fontAlgn="t"/>
            <a:r>
              <a:rPr lang="es-MX"/>
              <a:t>F</a:t>
            </a:r>
            <a:endParaRPr lang="es-419"/>
          </a:p>
        </p:txBody>
      </p:sp>
      <p:sp>
        <p:nvSpPr>
          <p:cNvPr id="47" name="Rectángulo: esquinas redondeadas 46">
            <a:extLst>
              <a:ext uri="{FF2B5EF4-FFF2-40B4-BE49-F238E27FC236}">
                <a16:creationId xmlns:a16="http://schemas.microsoft.com/office/drawing/2014/main" id="{F42F7449-3096-951D-D2D0-11E28411E8A6}"/>
              </a:ext>
            </a:extLst>
          </p:cNvPr>
          <p:cNvSpPr/>
          <p:nvPr/>
        </p:nvSpPr>
        <p:spPr>
          <a:xfrm>
            <a:off x="4589342" y="1670575"/>
            <a:ext cx="7447854" cy="2548604"/>
          </a:xfrm>
          <a:prstGeom prst="roundRect">
            <a:avLst>
              <a:gd name="adj" fmla="val 10687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5B1632D9-1F9C-987F-674F-2910FABC2762}"/>
                  </a:ext>
                </a:extLst>
              </p:cNvPr>
              <p:cNvSpPr/>
              <p:nvPr/>
            </p:nvSpPr>
            <p:spPr>
              <a:xfrm>
                <a:off x="4547693" y="59377"/>
                <a:ext cx="7489503" cy="1447800"/>
              </a:xfrm>
              <a:prstGeom prst="round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s-MX" b="1" dirty="0">
                    <a:solidFill>
                      <a:schemeClr val="tx1"/>
                    </a:solidFill>
                  </a:rPr>
                  <a:t>Model</a:t>
                </a:r>
                <a:endParaRPr lang="es-MX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s-MX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e>
                      </m:acc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s-MX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argmin</m:t>
                          </m:r>
                        </m:e>
                        <m:sub>
                          <m:r>
                            <a:rPr lang="es-MX" b="1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𝚽</m:t>
                          </m:r>
                        </m:sub>
                      </m:sSub>
                      <m:nary>
                        <m:naryPr>
                          <m:chr m:val="∑"/>
                          <m:limLoc m:val="subSup"/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  <m:sup/>
                        <m:e>
                          <m:sSubSup>
                            <m:sSubSupPr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+1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+∑</m:t>
                                      </m:r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s-MX" b="0" i="0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Φ</m:t>
                                          </m:r>
                                        </m:e>
                                        <m:sub>
                                          <m:r>
                                            <a:rPr lang="es-MX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ℓ</m:t>
                                          </m:r>
                                        </m:sub>
                                      </m:sSub>
                                    </m:e>
                                  </m:d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sSubSup>
                                    <m:sSubSupPr>
                                      <m:ctrlP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𝑌</m:t>
                                      </m:r>
                                    </m:e>
                                    <m:sub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sub>
                                    <m:sup>
                                      <m:r>
                                        <a:rPr lang="es-MX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sub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>
                              <m: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bSup>
                        </m:e>
                      </m:nary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s-MX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s-MX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  <m:sub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1:</m:t>
                                  </m:r>
                                  <m:r>
                                    <a:rPr lang="es-MX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s-MX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s-MX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s-419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Rectángulo: esquinas redondeadas 3">
                <a:extLst>
                  <a:ext uri="{FF2B5EF4-FFF2-40B4-BE49-F238E27FC236}">
                    <a16:creationId xmlns:a16="http://schemas.microsoft.com/office/drawing/2014/main" id="{5B1632D9-1F9C-987F-674F-2910FABC27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7693" y="59377"/>
                <a:ext cx="7489503" cy="14478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Imagen 11">
            <a:extLst>
              <a:ext uri="{FF2B5EF4-FFF2-40B4-BE49-F238E27FC236}">
                <a16:creationId xmlns:a16="http://schemas.microsoft.com/office/drawing/2014/main" id="{DE0F4839-588B-B958-EB7C-5EF6B3CD55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724" b="6808"/>
          <a:stretch>
            <a:fillRect/>
          </a:stretch>
        </p:blipFill>
        <p:spPr>
          <a:xfrm>
            <a:off x="1103813" y="249087"/>
            <a:ext cx="3135584" cy="1916503"/>
          </a:xfrm>
          <a:prstGeom prst="rect">
            <a:avLst/>
          </a:prstGeom>
        </p:spPr>
      </p:pic>
      <p:sp>
        <p:nvSpPr>
          <p:cNvPr id="42" name="Rectángulo: esquinas redondeadas 41">
            <a:extLst>
              <a:ext uri="{FF2B5EF4-FFF2-40B4-BE49-F238E27FC236}">
                <a16:creationId xmlns:a16="http://schemas.microsoft.com/office/drawing/2014/main" id="{E4DA498F-A4FA-8CFE-22EB-6AF99A8DE905}"/>
              </a:ext>
            </a:extLst>
          </p:cNvPr>
          <p:cNvSpPr/>
          <p:nvPr/>
        </p:nvSpPr>
        <p:spPr>
          <a:xfrm>
            <a:off x="7266438" y="1859908"/>
            <a:ext cx="45719" cy="212965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152E30AF-25D6-9A86-4E3E-1026ED727903}"/>
              </a:ext>
            </a:extLst>
          </p:cNvPr>
          <p:cNvSpPr txBox="1"/>
          <p:nvPr/>
        </p:nvSpPr>
        <p:spPr>
          <a:xfrm>
            <a:off x="4778099" y="1931993"/>
            <a:ext cx="25781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Common Network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8F00DE7B-914D-69E2-9878-6A5C9C7CB03A}"/>
              </a:ext>
            </a:extLst>
          </p:cNvPr>
          <p:cNvSpPr txBox="1"/>
          <p:nvPr/>
        </p:nvSpPr>
        <p:spPr>
          <a:xfrm>
            <a:off x="7401606" y="1745578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 Socio-</a:t>
            </a:r>
            <a:r>
              <a:rPr lang="es-MX" dirty="0" err="1"/>
              <a:t>Economic</a:t>
            </a:r>
            <a:endParaRPr lang="es-MX" dirty="0"/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45" name="CuadroTexto 44">
            <a:extLst>
              <a:ext uri="{FF2B5EF4-FFF2-40B4-BE49-F238E27FC236}">
                <a16:creationId xmlns:a16="http://schemas.microsoft.com/office/drawing/2014/main" id="{5BD0CCA7-9CC5-5BF0-570D-06AE6F2246DC}"/>
              </a:ext>
            </a:extLst>
          </p:cNvPr>
          <p:cNvSpPr txBox="1"/>
          <p:nvPr/>
        </p:nvSpPr>
        <p:spPr>
          <a:xfrm>
            <a:off x="9680414" y="1739705"/>
            <a:ext cx="19759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dirty="0"/>
              <a:t>Gender</a:t>
            </a:r>
          </a:p>
          <a:p>
            <a:pPr algn="ctr"/>
            <a:r>
              <a:rPr lang="es-MX" dirty="0"/>
              <a:t>Effects</a:t>
            </a:r>
          </a:p>
        </p:txBody>
      </p:sp>
      <p:sp>
        <p:nvSpPr>
          <p:cNvPr id="57" name="CuadroTexto 56">
            <a:extLst>
              <a:ext uri="{FF2B5EF4-FFF2-40B4-BE49-F238E27FC236}">
                <a16:creationId xmlns:a16="http://schemas.microsoft.com/office/drawing/2014/main" id="{BD501300-D00D-DEEB-5848-71BC27E6723B}"/>
              </a:ext>
            </a:extLst>
          </p:cNvPr>
          <p:cNvSpPr txBox="1"/>
          <p:nvPr/>
        </p:nvSpPr>
        <p:spPr>
          <a:xfrm>
            <a:off x="655527" y="364275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sp>
        <p:nvSpPr>
          <p:cNvPr id="58" name="CuadroTexto 57">
            <a:extLst>
              <a:ext uri="{FF2B5EF4-FFF2-40B4-BE49-F238E27FC236}">
                <a16:creationId xmlns:a16="http://schemas.microsoft.com/office/drawing/2014/main" id="{40C9343A-2994-3BC7-B5CD-9BB3D23042DF}"/>
              </a:ext>
            </a:extLst>
          </p:cNvPr>
          <p:cNvSpPr txBox="1"/>
          <p:nvPr/>
        </p:nvSpPr>
        <p:spPr>
          <a:xfrm>
            <a:off x="644243" y="960009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sp>
        <p:nvSpPr>
          <p:cNvPr id="59" name="CuadroTexto 58">
            <a:extLst>
              <a:ext uri="{FF2B5EF4-FFF2-40B4-BE49-F238E27FC236}">
                <a16:creationId xmlns:a16="http://schemas.microsoft.com/office/drawing/2014/main" id="{7348D86C-51B4-72D0-49D5-BE1A89A71909}"/>
              </a:ext>
            </a:extLst>
          </p:cNvPr>
          <p:cNvSpPr txBox="1"/>
          <p:nvPr/>
        </p:nvSpPr>
        <p:spPr>
          <a:xfrm>
            <a:off x="644243" y="1566670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BD06E30-B31E-FC52-E7D8-3D4EEAA807B0}"/>
                  </a:ext>
                </a:extLst>
              </p:cNvPr>
              <p:cNvSpPr txBox="1"/>
              <p:nvPr/>
            </p:nvSpPr>
            <p:spPr>
              <a:xfrm>
                <a:off x="655527" y="1963348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60" name="CuadroTexto 59">
                <a:extLst>
                  <a:ext uri="{FF2B5EF4-FFF2-40B4-BE49-F238E27FC236}">
                    <a16:creationId xmlns:a16="http://schemas.microsoft.com/office/drawing/2014/main" id="{BBD06E30-B31E-FC52-E7D8-3D4EEAA807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527" y="1963348"/>
                <a:ext cx="48877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Rectángulo: esquinas redondeadas 62">
            <a:extLst>
              <a:ext uri="{FF2B5EF4-FFF2-40B4-BE49-F238E27FC236}">
                <a16:creationId xmlns:a16="http://schemas.microsoft.com/office/drawing/2014/main" id="{BADEEE80-1BFC-0D9C-07D8-337A0997FEA1}"/>
              </a:ext>
            </a:extLst>
          </p:cNvPr>
          <p:cNvSpPr/>
          <p:nvPr/>
        </p:nvSpPr>
        <p:spPr>
          <a:xfrm>
            <a:off x="378045" y="4364465"/>
            <a:ext cx="4674152" cy="2241965"/>
          </a:xfrm>
          <a:prstGeom prst="roundRect">
            <a:avLst>
              <a:gd name="adj" fmla="val 12135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u="sng"/>
              <a:t>Prediction Error</a:t>
            </a:r>
            <a:endParaRPr lang="es-419" u="sng" dirty="0">
              <a:solidFill>
                <a:schemeClr val="tx1"/>
              </a:solidFill>
            </a:endParaRPr>
          </a:p>
        </p:txBody>
      </p:sp>
      <p:sp>
        <p:nvSpPr>
          <p:cNvPr id="64" name="Rectángulo: esquinas redondeadas 63">
            <a:extLst>
              <a:ext uri="{FF2B5EF4-FFF2-40B4-BE49-F238E27FC236}">
                <a16:creationId xmlns:a16="http://schemas.microsoft.com/office/drawing/2014/main" id="{061F0C87-B8E5-AFE6-7C45-F0BACD37361A}"/>
              </a:ext>
            </a:extLst>
          </p:cNvPr>
          <p:cNvSpPr/>
          <p:nvPr/>
        </p:nvSpPr>
        <p:spPr>
          <a:xfrm>
            <a:off x="325120" y="28672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A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6" name="Rectángulo: esquinas redondeadas 65">
            <a:extLst>
              <a:ext uri="{FF2B5EF4-FFF2-40B4-BE49-F238E27FC236}">
                <a16:creationId xmlns:a16="http://schemas.microsoft.com/office/drawing/2014/main" id="{D0BFC753-E46F-DF72-F4EA-CC9131A66016}"/>
              </a:ext>
            </a:extLst>
          </p:cNvPr>
          <p:cNvSpPr/>
          <p:nvPr/>
        </p:nvSpPr>
        <p:spPr>
          <a:xfrm>
            <a:off x="4440404" y="32373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B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7" name="Rectángulo: esquinas redondeadas 66">
            <a:extLst>
              <a:ext uri="{FF2B5EF4-FFF2-40B4-BE49-F238E27FC236}">
                <a16:creationId xmlns:a16="http://schemas.microsoft.com/office/drawing/2014/main" id="{EEE37F51-AEDC-42E2-E2D2-32487075F527}"/>
              </a:ext>
            </a:extLst>
          </p:cNvPr>
          <p:cNvSpPr/>
          <p:nvPr/>
        </p:nvSpPr>
        <p:spPr>
          <a:xfrm>
            <a:off x="4499893" y="1582125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C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8" name="Rectángulo: esquinas redondeadas 67">
            <a:extLst>
              <a:ext uri="{FF2B5EF4-FFF2-40B4-BE49-F238E27FC236}">
                <a16:creationId xmlns:a16="http://schemas.microsoft.com/office/drawing/2014/main" id="{F1957AC2-C2D3-146A-6302-5969AA8F81E6}"/>
              </a:ext>
            </a:extLst>
          </p:cNvPr>
          <p:cNvSpPr/>
          <p:nvPr/>
        </p:nvSpPr>
        <p:spPr>
          <a:xfrm>
            <a:off x="310905" y="4260915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D</a:t>
            </a:r>
            <a:endParaRPr lang="es-419" b="1" dirty="0">
              <a:solidFill>
                <a:schemeClr val="tx1"/>
              </a:solidFill>
            </a:endParaRPr>
          </a:p>
        </p:txBody>
      </p:sp>
      <p:sp>
        <p:nvSpPr>
          <p:cNvPr id="69" name="Rectángulo: esquinas redondeadas 68">
            <a:extLst>
              <a:ext uri="{FF2B5EF4-FFF2-40B4-BE49-F238E27FC236}">
                <a16:creationId xmlns:a16="http://schemas.microsoft.com/office/drawing/2014/main" id="{4A1E18CC-34E5-8F56-CF04-74D7C62F432A}"/>
              </a:ext>
            </a:extLst>
          </p:cNvPr>
          <p:cNvSpPr/>
          <p:nvPr/>
        </p:nvSpPr>
        <p:spPr>
          <a:xfrm>
            <a:off x="5110883" y="4287511"/>
            <a:ext cx="420355" cy="36933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b="1" dirty="0">
                <a:solidFill>
                  <a:schemeClr val="tx1"/>
                </a:solidFill>
              </a:rPr>
              <a:t>E</a:t>
            </a:r>
            <a:endParaRPr lang="es-419" b="1" dirty="0">
              <a:solidFill>
                <a:schemeClr val="tx1"/>
              </a:solidFill>
            </a:endParaRPr>
          </a:p>
        </p:txBody>
      </p:sp>
      <p:graphicFrame>
        <p:nvGraphicFramePr>
          <p:cNvPr id="75" name="Tabla 74">
            <a:extLst>
              <a:ext uri="{FF2B5EF4-FFF2-40B4-BE49-F238E27FC236}">
                <a16:creationId xmlns:a16="http://schemas.microsoft.com/office/drawing/2014/main" id="{DFCBD71D-671B-D4BB-8099-A540E7706E94}"/>
              </a:ext>
            </a:extLst>
          </p:cNvPr>
          <p:cNvGraphicFramePr>
            <a:graphicFrameLocks noGrp="1"/>
          </p:cNvGraphicFramePr>
          <p:nvPr/>
        </p:nvGraphicFramePr>
        <p:xfrm>
          <a:off x="1294474" y="2588547"/>
          <a:ext cx="2361639" cy="121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472949985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771050640"/>
                    </a:ext>
                  </a:extLst>
                </a:gridCol>
                <a:gridCol w="787213">
                  <a:extLst>
                    <a:ext uri="{9D8B030D-6E8A-4147-A177-3AD203B41FA5}">
                      <a16:colId xmlns:a16="http://schemas.microsoft.com/office/drawing/2014/main" val="374501602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S. No.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Soc-Ec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183361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S1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228129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S2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232283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 err="1"/>
                        <a:t>Middle</a:t>
                      </a:r>
                      <a:endParaRPr lang="es-419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816477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64E2DB53-F2E8-38BC-C765-7265A494F3DD}"/>
                  </a:ext>
                </a:extLst>
              </p:cNvPr>
              <p:cNvSpPr txBox="1"/>
              <p:nvPr/>
            </p:nvSpPr>
            <p:spPr>
              <a:xfrm>
                <a:off x="1386470" y="3807747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78" name="CuadroTexto 77">
                <a:extLst>
                  <a:ext uri="{FF2B5EF4-FFF2-40B4-BE49-F238E27FC236}">
                    <a16:creationId xmlns:a16="http://schemas.microsoft.com/office/drawing/2014/main" id="{64E2DB53-F2E8-38BC-C765-7265A494F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6470" y="3807747"/>
                <a:ext cx="488772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BB05336-8510-F0F4-FB4E-D1E927425FE3}"/>
                  </a:ext>
                </a:extLst>
              </p:cNvPr>
              <p:cNvSpPr txBox="1"/>
              <p:nvPr/>
            </p:nvSpPr>
            <p:spPr>
              <a:xfrm>
                <a:off x="2164352" y="3819069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79" name="CuadroTexto 78">
                <a:extLst>
                  <a:ext uri="{FF2B5EF4-FFF2-40B4-BE49-F238E27FC236}">
                    <a16:creationId xmlns:a16="http://schemas.microsoft.com/office/drawing/2014/main" id="{8BB05336-8510-F0F4-FB4E-D1E927425F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4352" y="3819069"/>
                <a:ext cx="488772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DB12175C-5CE3-B577-4C25-47BCFF52C1D9}"/>
                  </a:ext>
                </a:extLst>
              </p:cNvPr>
              <p:cNvSpPr txBox="1"/>
              <p:nvPr/>
            </p:nvSpPr>
            <p:spPr>
              <a:xfrm>
                <a:off x="2916379" y="3807747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0" name="CuadroTexto 79">
                <a:extLst>
                  <a:ext uri="{FF2B5EF4-FFF2-40B4-BE49-F238E27FC236}">
                    <a16:creationId xmlns:a16="http://schemas.microsoft.com/office/drawing/2014/main" id="{DB12175C-5CE3-B577-4C25-47BCFF52C1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6379" y="3807747"/>
                <a:ext cx="488772" cy="40011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3CF50C3E-B0BD-8749-B78C-D16E04761752}"/>
                  </a:ext>
                </a:extLst>
              </p:cNvPr>
              <p:cNvSpPr txBox="1"/>
              <p:nvPr/>
            </p:nvSpPr>
            <p:spPr>
              <a:xfrm>
                <a:off x="1258212" y="2107667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1" name="CuadroTexto 80">
                <a:extLst>
                  <a:ext uri="{FF2B5EF4-FFF2-40B4-BE49-F238E27FC236}">
                    <a16:creationId xmlns:a16="http://schemas.microsoft.com/office/drawing/2014/main" id="{3CF50C3E-B0BD-8749-B78C-D16E04761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8212" y="2107667"/>
                <a:ext cx="488772" cy="40011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D3419A6-8FD0-2A2B-83D8-40D1933B23B3}"/>
                  </a:ext>
                </a:extLst>
              </p:cNvPr>
              <p:cNvSpPr txBox="1"/>
              <p:nvPr/>
            </p:nvSpPr>
            <p:spPr>
              <a:xfrm>
                <a:off x="1860897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2" name="CuadroTexto 81">
                <a:extLst>
                  <a:ext uri="{FF2B5EF4-FFF2-40B4-BE49-F238E27FC236}">
                    <a16:creationId xmlns:a16="http://schemas.microsoft.com/office/drawing/2014/main" id="{FD3419A6-8FD0-2A2B-83D8-40D1933B23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897" y="2122962"/>
                <a:ext cx="488772" cy="40011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D63B1880-718A-90B1-C457-A465A3B3663D}"/>
                  </a:ext>
                </a:extLst>
              </p:cNvPr>
              <p:cNvSpPr txBox="1"/>
              <p:nvPr/>
            </p:nvSpPr>
            <p:spPr>
              <a:xfrm>
                <a:off x="2510480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3" name="CuadroTexto 82">
                <a:extLst>
                  <a:ext uri="{FF2B5EF4-FFF2-40B4-BE49-F238E27FC236}">
                    <a16:creationId xmlns:a16="http://schemas.microsoft.com/office/drawing/2014/main" id="{D63B1880-718A-90B1-C457-A465A3B36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480" y="2122962"/>
                <a:ext cx="488772" cy="40011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9FE70B8C-DCDF-1265-33C6-408F4CC6986C}"/>
                  </a:ext>
                </a:extLst>
              </p:cNvPr>
              <p:cNvSpPr txBox="1"/>
              <p:nvPr/>
            </p:nvSpPr>
            <p:spPr>
              <a:xfrm>
                <a:off x="3100786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4" name="CuadroTexto 83">
                <a:extLst>
                  <a:ext uri="{FF2B5EF4-FFF2-40B4-BE49-F238E27FC236}">
                    <a16:creationId xmlns:a16="http://schemas.microsoft.com/office/drawing/2014/main" id="{9FE70B8C-DCDF-1265-33C6-408F4CC698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0786" y="2122962"/>
                <a:ext cx="488772" cy="40011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64929102-9D69-C18D-D4A4-22F3CFC3D9E9}"/>
                  </a:ext>
                </a:extLst>
              </p:cNvPr>
              <p:cNvSpPr txBox="1"/>
              <p:nvPr/>
            </p:nvSpPr>
            <p:spPr>
              <a:xfrm>
                <a:off x="3727473" y="2122962"/>
                <a:ext cx="48877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000" b="0" i="1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s-419" sz="2000" dirty="0"/>
              </a:p>
            </p:txBody>
          </p:sp>
        </mc:Choice>
        <mc:Fallback>
          <p:sp>
            <p:nvSpPr>
              <p:cNvPr id="85" name="CuadroTexto 84">
                <a:extLst>
                  <a:ext uri="{FF2B5EF4-FFF2-40B4-BE49-F238E27FC236}">
                    <a16:creationId xmlns:a16="http://schemas.microsoft.com/office/drawing/2014/main" id="{64929102-9D69-C18D-D4A4-22F3CFC3D9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473" y="2122962"/>
                <a:ext cx="488772" cy="400110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419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CuadroTexto 86">
            <a:extLst>
              <a:ext uri="{FF2B5EF4-FFF2-40B4-BE49-F238E27FC236}">
                <a16:creationId xmlns:a16="http://schemas.microsoft.com/office/drawing/2014/main" id="{D9CBEC14-34F0-A316-2034-29F54A03E944}"/>
              </a:ext>
            </a:extLst>
          </p:cNvPr>
          <p:cNvSpPr txBox="1"/>
          <p:nvPr/>
        </p:nvSpPr>
        <p:spPr>
          <a:xfrm>
            <a:off x="2098001" y="6245042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Time </a:t>
            </a:r>
            <a:r>
              <a:rPr lang="es-MX" dirty="0" err="1"/>
              <a:t>points</a:t>
            </a:r>
            <a:r>
              <a:rPr lang="es-MX" dirty="0"/>
              <a:t> (T)</a:t>
            </a:r>
            <a:endParaRPr lang="es-419" dirty="0"/>
          </a:p>
        </p:txBody>
      </p:sp>
      <p:sp>
        <p:nvSpPr>
          <p:cNvPr id="92" name="CuadroTexto 91">
            <a:extLst>
              <a:ext uri="{FF2B5EF4-FFF2-40B4-BE49-F238E27FC236}">
                <a16:creationId xmlns:a16="http://schemas.microsoft.com/office/drawing/2014/main" id="{E96EC5B7-56A5-E9D6-E5EA-D52BF7CE57EA}"/>
              </a:ext>
            </a:extLst>
          </p:cNvPr>
          <p:cNvSpPr txBox="1"/>
          <p:nvPr/>
        </p:nvSpPr>
        <p:spPr>
          <a:xfrm rot="16200000">
            <a:off x="-297948" y="5442558"/>
            <a:ext cx="20522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 err="1"/>
              <a:t>Estimation</a:t>
            </a:r>
            <a:r>
              <a:rPr lang="es-MX" dirty="0"/>
              <a:t> Error </a:t>
            </a:r>
            <a:endParaRPr lang="es-419" dirty="0"/>
          </a:p>
        </p:txBody>
      </p:sp>
      <p:sp>
        <p:nvSpPr>
          <p:cNvPr id="93" name="CuadroTexto 92">
            <a:extLst>
              <a:ext uri="{FF2B5EF4-FFF2-40B4-BE49-F238E27FC236}">
                <a16:creationId xmlns:a16="http://schemas.microsoft.com/office/drawing/2014/main" id="{7F752FF5-6404-B1E4-7E8A-85E692BE14A6}"/>
              </a:ext>
            </a:extLst>
          </p:cNvPr>
          <p:cNvSpPr txBox="1"/>
          <p:nvPr/>
        </p:nvSpPr>
        <p:spPr>
          <a:xfrm>
            <a:off x="1312979" y="4399611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10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122E9E6E-0B84-7CCD-145C-F2D3364A3E6F}"/>
              </a:ext>
            </a:extLst>
          </p:cNvPr>
          <p:cNvSpPr txBox="1"/>
          <p:nvPr/>
        </p:nvSpPr>
        <p:spPr>
          <a:xfrm>
            <a:off x="3270026" y="4416430"/>
            <a:ext cx="17531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20 </a:t>
            </a:r>
            <a:r>
              <a:rPr lang="es-MX" dirty="0" err="1"/>
              <a:t>Subjects</a:t>
            </a:r>
            <a:endParaRPr lang="es-419" dirty="0"/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21AFF722-741B-35CA-5411-37198E272649}"/>
              </a:ext>
            </a:extLst>
          </p:cNvPr>
          <p:cNvSpPr txBox="1"/>
          <p:nvPr/>
        </p:nvSpPr>
        <p:spPr>
          <a:xfrm>
            <a:off x="5542528" y="4408512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S1</a:t>
            </a:r>
            <a:endParaRPr lang="es-419" dirty="0"/>
          </a:p>
        </p:txBody>
      </p:sp>
      <p:pic>
        <p:nvPicPr>
          <p:cNvPr id="100" name="Imagen 99">
            <a:extLst>
              <a:ext uri="{FF2B5EF4-FFF2-40B4-BE49-F238E27FC236}">
                <a16:creationId xmlns:a16="http://schemas.microsoft.com/office/drawing/2014/main" id="{C07DAC19-4DA5-7318-8526-F1DB1B988CD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76244" y="2318345"/>
            <a:ext cx="1784312" cy="1766288"/>
          </a:xfrm>
          <a:prstGeom prst="rect">
            <a:avLst/>
          </a:prstGeom>
        </p:spPr>
      </p:pic>
      <p:pic>
        <p:nvPicPr>
          <p:cNvPr id="104" name="Imagen 103">
            <a:extLst>
              <a:ext uri="{FF2B5EF4-FFF2-40B4-BE49-F238E27FC236}">
                <a16:creationId xmlns:a16="http://schemas.microsoft.com/office/drawing/2014/main" id="{1435D3AD-A14D-5CFA-1D20-0E35B1C1883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655917" y="2313368"/>
            <a:ext cx="1766931" cy="1684748"/>
          </a:xfrm>
          <a:prstGeom prst="rect">
            <a:avLst/>
          </a:prstGeom>
        </p:spPr>
      </p:pic>
      <p:pic>
        <p:nvPicPr>
          <p:cNvPr id="106" name="Imagen 105">
            <a:extLst>
              <a:ext uri="{FF2B5EF4-FFF2-40B4-BE49-F238E27FC236}">
                <a16:creationId xmlns:a16="http://schemas.microsoft.com/office/drawing/2014/main" id="{01BE02CB-55C4-8E43-6DC2-9F8A02087CD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800496" y="2363458"/>
            <a:ext cx="1847999" cy="1721175"/>
          </a:xfrm>
          <a:prstGeom prst="rect">
            <a:avLst/>
          </a:prstGeom>
        </p:spPr>
      </p:pic>
      <p:graphicFrame>
        <p:nvGraphicFramePr>
          <p:cNvPr id="107" name="Tabla 106">
            <a:extLst>
              <a:ext uri="{FF2B5EF4-FFF2-40B4-BE49-F238E27FC236}">
                <a16:creationId xmlns:a16="http://schemas.microsoft.com/office/drawing/2014/main" id="{DC5A09A8-AD54-68E3-3DB0-6845BCBE931F}"/>
              </a:ext>
            </a:extLst>
          </p:cNvPr>
          <p:cNvGraphicFramePr>
            <a:graphicFrameLocks noGrp="1"/>
          </p:cNvGraphicFramePr>
          <p:nvPr/>
        </p:nvGraphicFramePr>
        <p:xfrm>
          <a:off x="2081686" y="2591889"/>
          <a:ext cx="787213" cy="1219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1551294310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Soc-Ec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93400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8388663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Low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538920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High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1908014"/>
                  </a:ext>
                </a:extLst>
              </a:tr>
            </a:tbl>
          </a:graphicData>
        </a:graphic>
      </p:graphicFrame>
      <p:graphicFrame>
        <p:nvGraphicFramePr>
          <p:cNvPr id="108" name="Tabla 107">
            <a:extLst>
              <a:ext uri="{FF2B5EF4-FFF2-40B4-BE49-F238E27FC236}">
                <a16:creationId xmlns:a16="http://schemas.microsoft.com/office/drawing/2014/main" id="{CC9A9CC8-B2C5-2CF4-F0BB-5982F29D1A62}"/>
              </a:ext>
            </a:extLst>
          </p:cNvPr>
          <p:cNvGraphicFramePr>
            <a:graphicFrameLocks noGrp="1"/>
          </p:cNvGraphicFramePr>
          <p:nvPr/>
        </p:nvGraphicFramePr>
        <p:xfrm>
          <a:off x="2868898" y="2591889"/>
          <a:ext cx="787213" cy="1219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787213">
                  <a:extLst>
                    <a:ext uri="{9D8B030D-6E8A-4147-A177-3AD203B41FA5}">
                      <a16:colId xmlns:a16="http://schemas.microsoft.com/office/drawing/2014/main" val="2707380661"/>
                    </a:ext>
                  </a:extLst>
                </a:gridCol>
              </a:tblGrid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Sex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651594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M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2412852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972976"/>
                  </a:ext>
                </a:extLst>
              </a:tr>
              <a:tr h="274041">
                <a:tc>
                  <a:txBody>
                    <a:bodyPr/>
                    <a:lstStyle/>
                    <a:p>
                      <a:r>
                        <a:rPr lang="es-MX" sz="1400" dirty="0"/>
                        <a:t>F</a:t>
                      </a:r>
                      <a:endParaRPr lang="es-419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6972536"/>
                  </a:ext>
                </a:extLst>
              </a:tr>
            </a:tbl>
          </a:graphicData>
        </a:graphic>
      </p:graphicFrame>
      <p:sp>
        <p:nvSpPr>
          <p:cNvPr id="115" name="CuadroTexto 114">
            <a:extLst>
              <a:ext uri="{FF2B5EF4-FFF2-40B4-BE49-F238E27FC236}">
                <a16:creationId xmlns:a16="http://schemas.microsoft.com/office/drawing/2014/main" id="{01B86019-E9A2-560F-5883-01006F8A08DA}"/>
              </a:ext>
            </a:extLst>
          </p:cNvPr>
          <p:cNvSpPr txBox="1"/>
          <p:nvPr/>
        </p:nvSpPr>
        <p:spPr>
          <a:xfrm>
            <a:off x="5168658" y="6278479"/>
            <a:ext cx="67099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dirty="0"/>
              <a:t>Covariate-</a:t>
            </a:r>
            <a:r>
              <a:rPr lang="es-MX" dirty="0" err="1"/>
              <a:t>Dependent</a:t>
            </a:r>
            <a:r>
              <a:rPr lang="es-MX" dirty="0"/>
              <a:t> Network </a:t>
            </a:r>
            <a:r>
              <a:rPr lang="es-MX" dirty="0" err="1"/>
              <a:t>Estimation</a:t>
            </a:r>
            <a:endParaRPr lang="es-419" dirty="0"/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A4EC8F3A-4D9F-27E7-58BC-788022121C0B}"/>
              </a:ext>
            </a:extLst>
          </p:cNvPr>
          <p:cNvSpPr txBox="1"/>
          <p:nvPr/>
        </p:nvSpPr>
        <p:spPr>
          <a:xfrm>
            <a:off x="11389828" y="5135304"/>
            <a:ext cx="4887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2800" b="1" dirty="0"/>
              <a:t>…</a:t>
            </a:r>
            <a:endParaRPr lang="es-419" b="1" dirty="0"/>
          </a:p>
        </p:txBody>
      </p:sp>
      <p:pic>
        <p:nvPicPr>
          <p:cNvPr id="117" name="Imagen 116">
            <a:extLst>
              <a:ext uri="{FF2B5EF4-FFF2-40B4-BE49-F238E27FC236}">
                <a16:creationId xmlns:a16="http://schemas.microsoft.com/office/drawing/2014/main" id="{DCE93058-4E76-E08F-D8D7-E7DCBB91C45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21113" y="4513770"/>
            <a:ext cx="1784312" cy="1766288"/>
          </a:xfrm>
          <a:prstGeom prst="rect">
            <a:avLst/>
          </a:prstGeom>
        </p:spPr>
      </p:pic>
      <p:sp>
        <p:nvSpPr>
          <p:cNvPr id="97" name="CuadroTexto 96">
            <a:extLst>
              <a:ext uri="{FF2B5EF4-FFF2-40B4-BE49-F238E27FC236}">
                <a16:creationId xmlns:a16="http://schemas.microsoft.com/office/drawing/2014/main" id="{5D2F388B-2335-60B9-F2C9-D29485729F81}"/>
              </a:ext>
            </a:extLst>
          </p:cNvPr>
          <p:cNvSpPr txBox="1"/>
          <p:nvPr/>
        </p:nvSpPr>
        <p:spPr>
          <a:xfrm>
            <a:off x="7701199" y="4432217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S2</a:t>
            </a:r>
            <a:endParaRPr lang="es-419" dirty="0"/>
          </a:p>
        </p:txBody>
      </p:sp>
      <p:pic>
        <p:nvPicPr>
          <p:cNvPr id="119" name="Imagen 118">
            <a:extLst>
              <a:ext uri="{FF2B5EF4-FFF2-40B4-BE49-F238E27FC236}">
                <a16:creationId xmlns:a16="http://schemas.microsoft.com/office/drawing/2014/main" id="{9B5065BE-A7B1-F777-63B4-BD1512B47B9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377537" y="4561172"/>
            <a:ext cx="1784311" cy="1684858"/>
          </a:xfrm>
          <a:prstGeom prst="rect">
            <a:avLst/>
          </a:prstGeom>
        </p:spPr>
      </p:pic>
      <p:sp>
        <p:nvSpPr>
          <p:cNvPr id="98" name="CuadroTexto 97">
            <a:extLst>
              <a:ext uri="{FF2B5EF4-FFF2-40B4-BE49-F238E27FC236}">
                <a16:creationId xmlns:a16="http://schemas.microsoft.com/office/drawing/2014/main" id="{42E1E385-3304-33E0-5FA5-60A9CED0E5AC}"/>
              </a:ext>
            </a:extLst>
          </p:cNvPr>
          <p:cNvSpPr txBox="1"/>
          <p:nvPr/>
        </p:nvSpPr>
        <p:spPr>
          <a:xfrm>
            <a:off x="9497546" y="4433582"/>
            <a:ext cx="4887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dirty="0"/>
              <a:t>S3</a:t>
            </a:r>
            <a:endParaRPr lang="es-419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0E59AA-5C5F-DAE8-C379-9A0C5F00B83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71961" y="4714333"/>
            <a:ext cx="4065123" cy="162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2918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164</Words>
  <Application>Microsoft Office PowerPoint</Application>
  <PresentationFormat>Panorámica</PresentationFormat>
  <Paragraphs>116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Cambria Math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 A Sanchez Gomez</dc:creator>
  <cp:lastModifiedBy>Jose A Sanchez Gomez</cp:lastModifiedBy>
  <cp:revision>3</cp:revision>
  <dcterms:created xsi:type="dcterms:W3CDTF">2025-10-27T22:12:43Z</dcterms:created>
  <dcterms:modified xsi:type="dcterms:W3CDTF">2025-10-29T23:51:43Z</dcterms:modified>
</cp:coreProperties>
</file>